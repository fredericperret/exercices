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B8E35-62B3-4773-BE7D-75D276825F45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E8BB3E-8323-4E64-839F-CA5CA961BD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175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E8BB3E-8323-4E64-839F-CA5CA961BDC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449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8DA859-4BAF-B7EE-D029-D78FCAAF4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9B3197C-112B-D534-A044-093721FDE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239114-AB64-26E5-FFE8-4CD898E0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0E8A4B-65FA-77F9-6A7A-389304D8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44A631-3234-28BD-7627-C518D5D3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9704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0C8826-E94B-54D0-C4C1-2D569FDF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B073E8-1DD6-39EE-12C6-2388EAD7B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FE39D0-444F-0B20-1718-6D3DBDA7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BD73BD2-1DF6-90AE-9AF6-E8D4B867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24BD3D-D521-C96B-8727-56A60AF67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835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29C508-C24A-F855-7FE1-B1C55A5B6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980D31-522B-02CD-6FC2-E37F6BF1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FBE54D2-9BFB-2FCA-6F2F-D6D44A9D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C1D5AE-69A9-02EF-D0A5-D32A165EB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7617D7-6357-CF71-44C0-3B8DCDA5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71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8F3BB9-7048-A8EB-658C-F3C1AD6C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F2FE1C-CE07-065F-6689-9BFA37A3F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A06677-C6A6-7D1D-C449-77CB06669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AEEF83-0855-C553-7170-BE023606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7DB190-3F16-29B0-079B-6C3FE663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185A86-1600-CF50-05C3-A32AC8F9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65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0B0BC5-0304-A147-FED9-686F103B2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05BD8E-76F7-4A1D-BA35-12F09D9EA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0E1B34-3326-6391-2ED3-C377D2B87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AA07EA2-0A4A-0323-137B-75CF4BF71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2FC6A77-1AA2-856D-6C07-6231E44F5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1A31325-D1CB-3C6C-3C19-EDBD233B9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DF90571-DD89-7FA1-EED3-AFE945C7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9619A3A-7B19-EF0D-65B5-D73E13BB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85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E06C6C-43CC-8E8E-2642-AEC99346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DA1EEF9-F510-7913-F54F-1B22F9885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D71EADD-569A-3273-9039-140A6B72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17D29DA-892F-F6FF-C568-23E0771D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949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819CCFC-40BA-9BF6-C333-4A3661764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A87F8D-9C44-8346-DC68-02698A13C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9D15CB5-E769-2C46-DE78-B12F4A71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0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FB19C4-0264-156C-A6D5-D07776855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FAA194-A5B8-66C1-5AD7-2D95F7916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3CCC7F4-A84B-38C1-2D37-2526358D9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BF478A5-805F-85B8-BA7F-3C5148AB9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41B1C8-7CDF-F33B-0A55-A70136686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696123-2DE5-806C-E7E1-ED2DE97A7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3078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6AB8B4-85B6-E360-93EB-499B82B00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756FE4F-128C-DA7A-E66E-A982D925577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113262-02CE-3DDE-F678-B016EE2FA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FA80DC-E1B4-6168-85C3-226450844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1293F85-B6DC-0760-9218-4495A290E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BB69BD-AA39-F492-6A01-299B68DD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458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C9A0DE-85EC-1D2D-A03C-6439AE50C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7A16CCF-ED53-B80D-7E80-C80CE5A0E6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ACC4C0-725D-88EC-C7B4-76B897F00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4F532A-C0FB-F7EE-1AA3-774822C4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23A559-AA12-A78C-BB1A-00BFDDE7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794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C2EA9D0-EC45-43F8-905E-2D681EE01E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934028-D201-B5CF-7552-E16816D0D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777CEC-6F89-CCA6-B3F4-59FE470D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90C302-67D2-814F-B8EA-C889D33D5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682AE6-B078-20F3-6A1E-82859F78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9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712BB3-00DF-F62C-58BB-C400E7CEE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A931E18-664D-DFA2-DCD6-5A9013C34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E9110F-752B-3278-6F46-42959172D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33C6B3-9525-4A60-9C10-4319A6C03B97}" type="datetimeFigureOut">
              <a:rPr lang="fr-FR" smtClean="0"/>
              <a:t>13/10/2026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987F2D-97A2-1C0F-2A24-C07DE162E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00D733-AD4F-A613-243B-685768E7B7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141B9-00A7-4F87-991B-4D725FEDEB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62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46D7B-C0C3-E4B6-B250-C8B85B0FC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Présentation du modèle CNN de reconnaissance de chiffres manuscrits</a:t>
            </a:r>
          </a:p>
        </p:txBody>
      </p:sp>
    </p:spTree>
    <p:extLst>
      <p:ext uri="{BB962C8B-B14F-4D97-AF65-F5344CB8AC3E}">
        <p14:creationId xmlns:p14="http://schemas.microsoft.com/office/powerpoint/2010/main" val="3903181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9111A4-446F-EFEB-C287-7647C4CB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 du besoin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88E511-0EF5-8091-F8BC-40196953C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Les images à analyser sont des bitmaps de 28x28 en niveau de gris (valeur entre 0 (noir) et 255 (blanc)), comme par ex.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 une image correspond donc un chiffre entre 0 et 9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C6745C1-FB5C-F73C-7365-ECD015807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258" y="2773810"/>
            <a:ext cx="5654530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589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C59952-E245-DB1F-309C-40A4065D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Présentation du modèle CNN (</a:t>
            </a:r>
            <a:r>
              <a:rPr lang="fr-FR" sz="3200" dirty="0" err="1"/>
              <a:t>Convolutional</a:t>
            </a:r>
            <a:r>
              <a:rPr lang="fr-FR" sz="3200" dirty="0"/>
              <a:t> Neural Network)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72F4B9-6DFA-45A8-EA15-A5EF064AC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436" y="976979"/>
            <a:ext cx="10515600" cy="5443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Le modèle se décompose en plusieurs couches de traitements successifs :</a:t>
            </a:r>
          </a:p>
        </p:txBody>
      </p:sp>
      <p:sp>
        <p:nvSpPr>
          <p:cNvPr id="4" name="Parenthèses 3">
            <a:extLst>
              <a:ext uri="{FF2B5EF4-FFF2-40B4-BE49-F238E27FC236}">
                <a16:creationId xmlns:a16="http://schemas.microsoft.com/office/drawing/2014/main" id="{FD304864-C394-A8D4-C5F7-06B25D26E60D}"/>
              </a:ext>
            </a:extLst>
          </p:cNvPr>
          <p:cNvSpPr/>
          <p:nvPr/>
        </p:nvSpPr>
        <p:spPr>
          <a:xfrm>
            <a:off x="187729" y="2836277"/>
            <a:ext cx="953729" cy="83174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Matrice 28x28 de réels entre 0-1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F20744-CE48-E9B9-C30F-3116B9B28B64}"/>
              </a:ext>
            </a:extLst>
          </p:cNvPr>
          <p:cNvSpPr/>
          <p:nvPr/>
        </p:nvSpPr>
        <p:spPr>
          <a:xfrm>
            <a:off x="1418795" y="2112625"/>
            <a:ext cx="875071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Filtre 1 conv2d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2362BE-5A13-9B06-AFE1-4419BBB4F954}"/>
              </a:ext>
            </a:extLst>
          </p:cNvPr>
          <p:cNvSpPr/>
          <p:nvPr/>
        </p:nvSpPr>
        <p:spPr>
          <a:xfrm>
            <a:off x="1418794" y="2638650"/>
            <a:ext cx="875071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Filtre 2 conv2d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021B25A-A51E-D42B-41A0-59AF29AD153B}"/>
              </a:ext>
            </a:extLst>
          </p:cNvPr>
          <p:cNvCxnSpPr/>
          <p:nvPr/>
        </p:nvCxnSpPr>
        <p:spPr>
          <a:xfrm>
            <a:off x="1871076" y="3212967"/>
            <a:ext cx="0" cy="4880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23A3696-7827-6977-9EC9-73B5DC0A1175}"/>
              </a:ext>
            </a:extLst>
          </p:cNvPr>
          <p:cNvSpPr/>
          <p:nvPr/>
        </p:nvSpPr>
        <p:spPr>
          <a:xfrm>
            <a:off x="1418793" y="3797115"/>
            <a:ext cx="875071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Filtre 32 conv2d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5C41DD1A-6315-D5AF-64A9-1DAFCF34A55F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1141458" y="2333851"/>
            <a:ext cx="277337" cy="918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2BABB43-F5BD-0730-F8F2-09D9E28E3FA0}"/>
              </a:ext>
            </a:extLst>
          </p:cNvPr>
          <p:cNvCxnSpPr>
            <a:stCxn id="4" idx="3"/>
            <a:endCxn id="8" idx="1"/>
          </p:cNvCxnSpPr>
          <p:nvPr/>
        </p:nvCxnSpPr>
        <p:spPr>
          <a:xfrm flipV="1">
            <a:off x="1141458" y="2859876"/>
            <a:ext cx="277336" cy="392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6A8E8016-4919-C103-6F86-32121A4092C6}"/>
              </a:ext>
            </a:extLst>
          </p:cNvPr>
          <p:cNvCxnSpPr>
            <a:stCxn id="4" idx="3"/>
            <a:endCxn id="12" idx="1"/>
          </p:cNvCxnSpPr>
          <p:nvPr/>
        </p:nvCxnSpPr>
        <p:spPr>
          <a:xfrm>
            <a:off x="1141458" y="3252147"/>
            <a:ext cx="277335" cy="7661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B351DDC-4A58-58AC-DB41-9DB0071FD847}"/>
              </a:ext>
            </a:extLst>
          </p:cNvPr>
          <p:cNvSpPr/>
          <p:nvPr/>
        </p:nvSpPr>
        <p:spPr>
          <a:xfrm>
            <a:off x="3353453" y="2112625"/>
            <a:ext cx="521098" cy="21269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</a:rPr>
              <a:t>max_pooling2d</a:t>
            </a:r>
          </a:p>
        </p:txBody>
      </p:sp>
      <p:sp>
        <p:nvSpPr>
          <p:cNvPr id="20" name="Parenthèses 19">
            <a:extLst>
              <a:ext uri="{FF2B5EF4-FFF2-40B4-BE49-F238E27FC236}">
                <a16:creationId xmlns:a16="http://schemas.microsoft.com/office/drawing/2014/main" id="{8577786C-C02A-D689-5821-F4A2F0538E10}"/>
              </a:ext>
            </a:extLst>
          </p:cNvPr>
          <p:cNvSpPr/>
          <p:nvPr/>
        </p:nvSpPr>
        <p:spPr>
          <a:xfrm>
            <a:off x="2563110" y="2100826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26x26</a:t>
            </a:r>
          </a:p>
        </p:txBody>
      </p:sp>
      <p:sp>
        <p:nvSpPr>
          <p:cNvPr id="23" name="Parenthèses 22">
            <a:extLst>
              <a:ext uri="{FF2B5EF4-FFF2-40B4-BE49-F238E27FC236}">
                <a16:creationId xmlns:a16="http://schemas.microsoft.com/office/drawing/2014/main" id="{F4F55216-1677-79DB-F1FE-83133240D30D}"/>
              </a:ext>
            </a:extLst>
          </p:cNvPr>
          <p:cNvSpPr/>
          <p:nvPr/>
        </p:nvSpPr>
        <p:spPr>
          <a:xfrm>
            <a:off x="2563110" y="2626851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26x26</a:t>
            </a:r>
          </a:p>
        </p:txBody>
      </p:sp>
      <p:sp>
        <p:nvSpPr>
          <p:cNvPr id="25" name="Parenthèses 24">
            <a:extLst>
              <a:ext uri="{FF2B5EF4-FFF2-40B4-BE49-F238E27FC236}">
                <a16:creationId xmlns:a16="http://schemas.microsoft.com/office/drawing/2014/main" id="{EE262A72-AB5F-F571-5F56-4546BCCB7827}"/>
              </a:ext>
            </a:extLst>
          </p:cNvPr>
          <p:cNvSpPr/>
          <p:nvPr/>
        </p:nvSpPr>
        <p:spPr>
          <a:xfrm>
            <a:off x="2563110" y="3797115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26x26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9DDDD0DA-3E9F-70DA-1B84-131A6E7CCE0E}"/>
              </a:ext>
            </a:extLst>
          </p:cNvPr>
          <p:cNvCxnSpPr>
            <a:stCxn id="6" idx="3"/>
            <a:endCxn id="20" idx="1"/>
          </p:cNvCxnSpPr>
          <p:nvPr/>
        </p:nvCxnSpPr>
        <p:spPr>
          <a:xfrm flipV="1">
            <a:off x="2293866" y="2327951"/>
            <a:ext cx="269244" cy="5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DE155EC-5341-AC3B-C08A-B9F3B3DD55CD}"/>
              </a:ext>
            </a:extLst>
          </p:cNvPr>
          <p:cNvCxnSpPr>
            <a:stCxn id="8" idx="3"/>
            <a:endCxn id="23" idx="1"/>
          </p:cNvCxnSpPr>
          <p:nvPr/>
        </p:nvCxnSpPr>
        <p:spPr>
          <a:xfrm flipV="1">
            <a:off x="2293865" y="2853976"/>
            <a:ext cx="269245" cy="5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34E12110-286F-58F1-4D26-AB1076E19830}"/>
              </a:ext>
            </a:extLst>
          </p:cNvPr>
          <p:cNvCxnSpPr>
            <a:stCxn id="12" idx="3"/>
            <a:endCxn id="25" idx="1"/>
          </p:cNvCxnSpPr>
          <p:nvPr/>
        </p:nvCxnSpPr>
        <p:spPr>
          <a:xfrm>
            <a:off x="2293864" y="4018341"/>
            <a:ext cx="269246" cy="5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95BBE0F-FC47-2480-8041-4F6E4CA626F4}"/>
              </a:ext>
            </a:extLst>
          </p:cNvPr>
          <p:cNvCxnSpPr/>
          <p:nvPr/>
        </p:nvCxnSpPr>
        <p:spPr>
          <a:xfrm>
            <a:off x="2823659" y="3212967"/>
            <a:ext cx="0" cy="4880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DF9B3D51-6330-B5F9-86FA-FD63751E7D65}"/>
              </a:ext>
            </a:extLst>
          </p:cNvPr>
          <p:cNvCxnSpPr>
            <a:stCxn id="20" idx="3"/>
          </p:cNvCxnSpPr>
          <p:nvPr/>
        </p:nvCxnSpPr>
        <p:spPr>
          <a:xfrm>
            <a:off x="3084208" y="2327951"/>
            <a:ext cx="2692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0C04507B-1F7F-772A-CD60-417229E29D1A}"/>
              </a:ext>
            </a:extLst>
          </p:cNvPr>
          <p:cNvCxnSpPr>
            <a:stCxn id="23" idx="3"/>
          </p:cNvCxnSpPr>
          <p:nvPr/>
        </p:nvCxnSpPr>
        <p:spPr>
          <a:xfrm>
            <a:off x="3084208" y="2853976"/>
            <a:ext cx="2692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BBCBC3A9-6B96-7000-6407-D990FBE8FF6D}"/>
              </a:ext>
            </a:extLst>
          </p:cNvPr>
          <p:cNvCxnSpPr>
            <a:stCxn id="25" idx="3"/>
          </p:cNvCxnSpPr>
          <p:nvPr/>
        </p:nvCxnSpPr>
        <p:spPr>
          <a:xfrm flipV="1">
            <a:off x="3084208" y="4018340"/>
            <a:ext cx="269245" cy="5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Parenthèses 38">
            <a:extLst>
              <a:ext uri="{FF2B5EF4-FFF2-40B4-BE49-F238E27FC236}">
                <a16:creationId xmlns:a16="http://schemas.microsoft.com/office/drawing/2014/main" id="{7B5BD4BD-B291-393B-C1E4-465979D4EA5F}"/>
              </a:ext>
            </a:extLst>
          </p:cNvPr>
          <p:cNvSpPr/>
          <p:nvPr/>
        </p:nvSpPr>
        <p:spPr>
          <a:xfrm>
            <a:off x="4202649" y="2089027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13x13</a:t>
            </a:r>
          </a:p>
        </p:txBody>
      </p:sp>
      <p:sp>
        <p:nvSpPr>
          <p:cNvPr id="40" name="Parenthèses 39">
            <a:extLst>
              <a:ext uri="{FF2B5EF4-FFF2-40B4-BE49-F238E27FC236}">
                <a16:creationId xmlns:a16="http://schemas.microsoft.com/office/drawing/2014/main" id="{B7AEB666-0EDA-1E55-3C74-2BEDA26B7FD2}"/>
              </a:ext>
            </a:extLst>
          </p:cNvPr>
          <p:cNvSpPr/>
          <p:nvPr/>
        </p:nvSpPr>
        <p:spPr>
          <a:xfrm>
            <a:off x="4202649" y="2615052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13x13</a:t>
            </a:r>
          </a:p>
        </p:txBody>
      </p:sp>
      <p:sp>
        <p:nvSpPr>
          <p:cNvPr id="41" name="Parenthèses 40">
            <a:extLst>
              <a:ext uri="{FF2B5EF4-FFF2-40B4-BE49-F238E27FC236}">
                <a16:creationId xmlns:a16="http://schemas.microsoft.com/office/drawing/2014/main" id="{41A65492-8B1C-07B7-53F7-20C305B20F96}"/>
              </a:ext>
            </a:extLst>
          </p:cNvPr>
          <p:cNvSpPr/>
          <p:nvPr/>
        </p:nvSpPr>
        <p:spPr>
          <a:xfrm>
            <a:off x="4202649" y="3785316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13x13</a:t>
            </a: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3ED23B11-A074-8893-EC61-943FA1F39495}"/>
              </a:ext>
            </a:extLst>
          </p:cNvPr>
          <p:cNvCxnSpPr/>
          <p:nvPr/>
        </p:nvCxnSpPr>
        <p:spPr>
          <a:xfrm>
            <a:off x="4463198" y="3201168"/>
            <a:ext cx="0" cy="4880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727FC32E-AD5D-96D3-0204-9543E2C4089D}"/>
              </a:ext>
            </a:extLst>
          </p:cNvPr>
          <p:cNvSpPr/>
          <p:nvPr/>
        </p:nvSpPr>
        <p:spPr>
          <a:xfrm>
            <a:off x="5272126" y="2102465"/>
            <a:ext cx="875071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Filtre 1 conv2d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BA51E31-9DA6-AC74-3E80-A4AF00EA13F5}"/>
              </a:ext>
            </a:extLst>
          </p:cNvPr>
          <p:cNvSpPr/>
          <p:nvPr/>
        </p:nvSpPr>
        <p:spPr>
          <a:xfrm>
            <a:off x="5272125" y="2628490"/>
            <a:ext cx="875071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Filtre 2 conv2d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EDFFC0D0-4294-D466-3E13-D1DAD0695864}"/>
              </a:ext>
            </a:extLst>
          </p:cNvPr>
          <p:cNvCxnSpPr/>
          <p:nvPr/>
        </p:nvCxnSpPr>
        <p:spPr>
          <a:xfrm>
            <a:off x="5724407" y="3202807"/>
            <a:ext cx="0" cy="4880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74C1439B-B7C6-1866-140E-3ADA7E92096F}"/>
              </a:ext>
            </a:extLst>
          </p:cNvPr>
          <p:cNvSpPr/>
          <p:nvPr/>
        </p:nvSpPr>
        <p:spPr>
          <a:xfrm>
            <a:off x="5272124" y="3786955"/>
            <a:ext cx="875071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Filtre 64 conv2d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EF04CC80-B06C-CBD2-5EAC-362ABF96DD5B}"/>
              </a:ext>
            </a:extLst>
          </p:cNvPr>
          <p:cNvCxnSpPr>
            <a:endCxn id="39" idx="1"/>
          </p:cNvCxnSpPr>
          <p:nvPr/>
        </p:nvCxnSpPr>
        <p:spPr>
          <a:xfrm flipV="1">
            <a:off x="3874551" y="2316152"/>
            <a:ext cx="328098" cy="11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FAB39E53-9B7D-F2FC-3CDC-DBD67B3D2256}"/>
              </a:ext>
            </a:extLst>
          </p:cNvPr>
          <p:cNvCxnSpPr>
            <a:endCxn id="40" idx="1"/>
          </p:cNvCxnSpPr>
          <p:nvPr/>
        </p:nvCxnSpPr>
        <p:spPr>
          <a:xfrm flipV="1">
            <a:off x="3874551" y="2842177"/>
            <a:ext cx="328098" cy="117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5E189EC5-1EEA-FCB9-577A-317A35165D0D}"/>
              </a:ext>
            </a:extLst>
          </p:cNvPr>
          <p:cNvCxnSpPr>
            <a:endCxn id="41" idx="1"/>
          </p:cNvCxnSpPr>
          <p:nvPr/>
        </p:nvCxnSpPr>
        <p:spPr>
          <a:xfrm flipV="1">
            <a:off x="3874551" y="4012441"/>
            <a:ext cx="328098" cy="5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Parenthèses 71">
            <a:extLst>
              <a:ext uri="{FF2B5EF4-FFF2-40B4-BE49-F238E27FC236}">
                <a16:creationId xmlns:a16="http://schemas.microsoft.com/office/drawing/2014/main" id="{B41B0ED1-6980-4881-4495-057CEECA4002}"/>
              </a:ext>
            </a:extLst>
          </p:cNvPr>
          <p:cNvSpPr/>
          <p:nvPr/>
        </p:nvSpPr>
        <p:spPr>
          <a:xfrm>
            <a:off x="6463863" y="2089027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11x11</a:t>
            </a:r>
          </a:p>
        </p:txBody>
      </p:sp>
      <p:sp>
        <p:nvSpPr>
          <p:cNvPr id="73" name="Parenthèses 72">
            <a:extLst>
              <a:ext uri="{FF2B5EF4-FFF2-40B4-BE49-F238E27FC236}">
                <a16:creationId xmlns:a16="http://schemas.microsoft.com/office/drawing/2014/main" id="{B4CCDCCC-5B79-644A-8681-5FAE99DB573F}"/>
              </a:ext>
            </a:extLst>
          </p:cNvPr>
          <p:cNvSpPr/>
          <p:nvPr/>
        </p:nvSpPr>
        <p:spPr>
          <a:xfrm>
            <a:off x="6463863" y="2615052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11x11</a:t>
            </a:r>
          </a:p>
        </p:txBody>
      </p:sp>
      <p:sp>
        <p:nvSpPr>
          <p:cNvPr id="74" name="Parenthèses 73">
            <a:extLst>
              <a:ext uri="{FF2B5EF4-FFF2-40B4-BE49-F238E27FC236}">
                <a16:creationId xmlns:a16="http://schemas.microsoft.com/office/drawing/2014/main" id="{BE772331-62E5-5064-1995-1EC2AD60C050}"/>
              </a:ext>
            </a:extLst>
          </p:cNvPr>
          <p:cNvSpPr/>
          <p:nvPr/>
        </p:nvSpPr>
        <p:spPr>
          <a:xfrm>
            <a:off x="6463863" y="3785316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11x11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0838545-FE05-D83C-73E0-4022210BFBDC}"/>
              </a:ext>
            </a:extLst>
          </p:cNvPr>
          <p:cNvCxnSpPr/>
          <p:nvPr/>
        </p:nvCxnSpPr>
        <p:spPr>
          <a:xfrm>
            <a:off x="6724412" y="3201168"/>
            <a:ext cx="0" cy="4880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F648C937-82BC-4A89-998A-EC4438946B7A}"/>
              </a:ext>
            </a:extLst>
          </p:cNvPr>
          <p:cNvCxnSpPr>
            <a:stCxn id="44" idx="3"/>
            <a:endCxn id="72" idx="1"/>
          </p:cNvCxnSpPr>
          <p:nvPr/>
        </p:nvCxnSpPr>
        <p:spPr>
          <a:xfrm flipV="1">
            <a:off x="6147197" y="2316152"/>
            <a:ext cx="316666" cy="7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F43C66B5-77BB-6AAE-804C-1FFF6E0D2475}"/>
              </a:ext>
            </a:extLst>
          </p:cNvPr>
          <p:cNvCxnSpPr>
            <a:stCxn id="45" idx="3"/>
            <a:endCxn id="73" idx="1"/>
          </p:cNvCxnSpPr>
          <p:nvPr/>
        </p:nvCxnSpPr>
        <p:spPr>
          <a:xfrm flipV="1">
            <a:off x="6147196" y="2842177"/>
            <a:ext cx="316667" cy="7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avec flèche 80">
            <a:extLst>
              <a:ext uri="{FF2B5EF4-FFF2-40B4-BE49-F238E27FC236}">
                <a16:creationId xmlns:a16="http://schemas.microsoft.com/office/drawing/2014/main" id="{065A724E-B0C6-7663-2B97-4F889ECAFC3F}"/>
              </a:ext>
            </a:extLst>
          </p:cNvPr>
          <p:cNvCxnSpPr>
            <a:stCxn id="47" idx="3"/>
            <a:endCxn id="74" idx="1"/>
          </p:cNvCxnSpPr>
          <p:nvPr/>
        </p:nvCxnSpPr>
        <p:spPr>
          <a:xfrm>
            <a:off x="6147195" y="4008181"/>
            <a:ext cx="316668" cy="4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E62507ED-EB62-BBDB-7E48-DE14EF71871F}"/>
              </a:ext>
            </a:extLst>
          </p:cNvPr>
          <p:cNvSpPr/>
          <p:nvPr/>
        </p:nvSpPr>
        <p:spPr>
          <a:xfrm>
            <a:off x="7338932" y="2089027"/>
            <a:ext cx="521098" cy="212694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</a:rPr>
              <a:t>max_pooling2d</a:t>
            </a:r>
          </a:p>
        </p:txBody>
      </p: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D5C701F4-938D-2C24-F160-836C34F364B5}"/>
              </a:ext>
            </a:extLst>
          </p:cNvPr>
          <p:cNvCxnSpPr>
            <a:stCxn id="72" idx="3"/>
          </p:cNvCxnSpPr>
          <p:nvPr/>
        </p:nvCxnSpPr>
        <p:spPr>
          <a:xfrm>
            <a:off x="6984961" y="2316152"/>
            <a:ext cx="353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avec flèche 86">
            <a:extLst>
              <a:ext uri="{FF2B5EF4-FFF2-40B4-BE49-F238E27FC236}">
                <a16:creationId xmlns:a16="http://schemas.microsoft.com/office/drawing/2014/main" id="{9C53A8A9-5923-C52F-AC29-C83451107886}"/>
              </a:ext>
            </a:extLst>
          </p:cNvPr>
          <p:cNvCxnSpPr>
            <a:stCxn id="73" idx="3"/>
          </p:cNvCxnSpPr>
          <p:nvPr/>
        </p:nvCxnSpPr>
        <p:spPr>
          <a:xfrm>
            <a:off x="6984961" y="2842177"/>
            <a:ext cx="3539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660F75D7-83AB-55DB-CDD0-CAC8C6E874C0}"/>
              </a:ext>
            </a:extLst>
          </p:cNvPr>
          <p:cNvCxnSpPr>
            <a:stCxn id="74" idx="3"/>
          </p:cNvCxnSpPr>
          <p:nvPr/>
        </p:nvCxnSpPr>
        <p:spPr>
          <a:xfrm flipV="1">
            <a:off x="6984961" y="4008180"/>
            <a:ext cx="353971" cy="4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Parenthèses 89">
            <a:extLst>
              <a:ext uri="{FF2B5EF4-FFF2-40B4-BE49-F238E27FC236}">
                <a16:creationId xmlns:a16="http://schemas.microsoft.com/office/drawing/2014/main" id="{C4A7C8CE-AAB9-A992-F282-609A901B4A45}"/>
              </a:ext>
            </a:extLst>
          </p:cNvPr>
          <p:cNvSpPr/>
          <p:nvPr/>
        </p:nvSpPr>
        <p:spPr>
          <a:xfrm>
            <a:off x="8210676" y="2075589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5x5</a:t>
            </a:r>
          </a:p>
        </p:txBody>
      </p:sp>
      <p:sp>
        <p:nvSpPr>
          <p:cNvPr id="91" name="Parenthèses 90">
            <a:extLst>
              <a:ext uri="{FF2B5EF4-FFF2-40B4-BE49-F238E27FC236}">
                <a16:creationId xmlns:a16="http://schemas.microsoft.com/office/drawing/2014/main" id="{3B42A817-0C63-B013-035B-382C05513B50}"/>
              </a:ext>
            </a:extLst>
          </p:cNvPr>
          <p:cNvSpPr/>
          <p:nvPr/>
        </p:nvSpPr>
        <p:spPr>
          <a:xfrm>
            <a:off x="8210676" y="2601614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5x5</a:t>
            </a:r>
          </a:p>
        </p:txBody>
      </p:sp>
      <p:sp>
        <p:nvSpPr>
          <p:cNvPr id="92" name="Parenthèses 91">
            <a:extLst>
              <a:ext uri="{FF2B5EF4-FFF2-40B4-BE49-F238E27FC236}">
                <a16:creationId xmlns:a16="http://schemas.microsoft.com/office/drawing/2014/main" id="{A722D7A4-CB80-5578-0DD1-6553E13C5CBC}"/>
              </a:ext>
            </a:extLst>
          </p:cNvPr>
          <p:cNvSpPr/>
          <p:nvPr/>
        </p:nvSpPr>
        <p:spPr>
          <a:xfrm>
            <a:off x="8210676" y="3771878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5x5</a:t>
            </a:r>
          </a:p>
        </p:txBody>
      </p: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799AF2AD-3C93-8084-D13E-E73020F9C2A7}"/>
              </a:ext>
            </a:extLst>
          </p:cNvPr>
          <p:cNvCxnSpPr/>
          <p:nvPr/>
        </p:nvCxnSpPr>
        <p:spPr>
          <a:xfrm>
            <a:off x="8471225" y="3187730"/>
            <a:ext cx="0" cy="4880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>
            <a:extLst>
              <a:ext uri="{FF2B5EF4-FFF2-40B4-BE49-F238E27FC236}">
                <a16:creationId xmlns:a16="http://schemas.microsoft.com/office/drawing/2014/main" id="{AB2685C2-2417-9309-D47E-B056C936D63C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7856703" y="2302714"/>
            <a:ext cx="3539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D4A2B4B3-4EE5-EFC7-C398-B715D90E5BBC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7856703" y="2828739"/>
            <a:ext cx="353973" cy="7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avec flèche 98">
            <a:extLst>
              <a:ext uri="{FF2B5EF4-FFF2-40B4-BE49-F238E27FC236}">
                <a16:creationId xmlns:a16="http://schemas.microsoft.com/office/drawing/2014/main" id="{5E8BA725-1F78-38EE-D29D-2B118A9E73E0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7856703" y="3999003"/>
            <a:ext cx="3539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478F0FCC-040A-1A16-FFF8-171600960C5B}"/>
              </a:ext>
            </a:extLst>
          </p:cNvPr>
          <p:cNvSpPr/>
          <p:nvPr/>
        </p:nvSpPr>
        <p:spPr>
          <a:xfrm>
            <a:off x="9239443" y="2089027"/>
            <a:ext cx="875071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Filtre 1 conv2d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F5523BC-DACD-DA48-A426-A8DFBE450403}"/>
              </a:ext>
            </a:extLst>
          </p:cNvPr>
          <p:cNvSpPr/>
          <p:nvPr/>
        </p:nvSpPr>
        <p:spPr>
          <a:xfrm>
            <a:off x="9239442" y="2615052"/>
            <a:ext cx="875071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Filtre 2 conv2d</a:t>
            </a:r>
          </a:p>
        </p:txBody>
      </p: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4028BB54-5D66-5128-8139-1C5DA6CC1BB6}"/>
              </a:ext>
            </a:extLst>
          </p:cNvPr>
          <p:cNvCxnSpPr/>
          <p:nvPr/>
        </p:nvCxnSpPr>
        <p:spPr>
          <a:xfrm>
            <a:off x="9691724" y="3189369"/>
            <a:ext cx="0" cy="4880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DFABE2E-6B78-1DEA-FFA8-3A240FAF6F38}"/>
              </a:ext>
            </a:extLst>
          </p:cNvPr>
          <p:cNvSpPr/>
          <p:nvPr/>
        </p:nvSpPr>
        <p:spPr>
          <a:xfrm>
            <a:off x="9239441" y="3773517"/>
            <a:ext cx="875071" cy="4424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Filtre 64 conv2d</a:t>
            </a:r>
          </a:p>
        </p:txBody>
      </p:sp>
      <p:sp>
        <p:nvSpPr>
          <p:cNvPr id="128" name="Parenthèses 127">
            <a:extLst>
              <a:ext uri="{FF2B5EF4-FFF2-40B4-BE49-F238E27FC236}">
                <a16:creationId xmlns:a16="http://schemas.microsoft.com/office/drawing/2014/main" id="{5C984DD8-F666-51E0-6DF2-76AC41918028}"/>
              </a:ext>
            </a:extLst>
          </p:cNvPr>
          <p:cNvSpPr/>
          <p:nvPr/>
        </p:nvSpPr>
        <p:spPr>
          <a:xfrm>
            <a:off x="10386237" y="2075589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3x3</a:t>
            </a:r>
          </a:p>
        </p:txBody>
      </p:sp>
      <p:sp>
        <p:nvSpPr>
          <p:cNvPr id="129" name="Parenthèses 128">
            <a:extLst>
              <a:ext uri="{FF2B5EF4-FFF2-40B4-BE49-F238E27FC236}">
                <a16:creationId xmlns:a16="http://schemas.microsoft.com/office/drawing/2014/main" id="{90B03C03-6750-20DA-576A-F66AC167ECFD}"/>
              </a:ext>
            </a:extLst>
          </p:cNvPr>
          <p:cNvSpPr/>
          <p:nvPr/>
        </p:nvSpPr>
        <p:spPr>
          <a:xfrm>
            <a:off x="10386237" y="2601614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3x3</a:t>
            </a:r>
          </a:p>
        </p:txBody>
      </p:sp>
      <p:sp>
        <p:nvSpPr>
          <p:cNvPr id="130" name="Parenthèses 129">
            <a:extLst>
              <a:ext uri="{FF2B5EF4-FFF2-40B4-BE49-F238E27FC236}">
                <a16:creationId xmlns:a16="http://schemas.microsoft.com/office/drawing/2014/main" id="{FAF17765-C089-3646-BE8C-7E500517440B}"/>
              </a:ext>
            </a:extLst>
          </p:cNvPr>
          <p:cNvSpPr/>
          <p:nvPr/>
        </p:nvSpPr>
        <p:spPr>
          <a:xfrm>
            <a:off x="10386237" y="3771878"/>
            <a:ext cx="521098" cy="45425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3x3</a:t>
            </a:r>
          </a:p>
        </p:txBody>
      </p:sp>
      <p:cxnSp>
        <p:nvCxnSpPr>
          <p:cNvPr id="131" name="Connecteur droit 130">
            <a:extLst>
              <a:ext uri="{FF2B5EF4-FFF2-40B4-BE49-F238E27FC236}">
                <a16:creationId xmlns:a16="http://schemas.microsoft.com/office/drawing/2014/main" id="{D05733FF-A247-FD09-7C1A-9E8CA62A3B21}"/>
              </a:ext>
            </a:extLst>
          </p:cNvPr>
          <p:cNvCxnSpPr/>
          <p:nvPr/>
        </p:nvCxnSpPr>
        <p:spPr>
          <a:xfrm>
            <a:off x="10646786" y="3187730"/>
            <a:ext cx="0" cy="488046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avec flèche 132">
            <a:extLst>
              <a:ext uri="{FF2B5EF4-FFF2-40B4-BE49-F238E27FC236}">
                <a16:creationId xmlns:a16="http://schemas.microsoft.com/office/drawing/2014/main" id="{9C39E5A9-96CA-5DFB-5D8F-BAA962D76CE6}"/>
              </a:ext>
            </a:extLst>
          </p:cNvPr>
          <p:cNvCxnSpPr>
            <a:stCxn id="100" idx="3"/>
            <a:endCxn id="128" idx="1"/>
          </p:cNvCxnSpPr>
          <p:nvPr/>
        </p:nvCxnSpPr>
        <p:spPr>
          <a:xfrm flipV="1">
            <a:off x="10114514" y="2302714"/>
            <a:ext cx="271723" cy="7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avec flèche 134">
            <a:extLst>
              <a:ext uri="{FF2B5EF4-FFF2-40B4-BE49-F238E27FC236}">
                <a16:creationId xmlns:a16="http://schemas.microsoft.com/office/drawing/2014/main" id="{3D80BB6A-851E-E852-6133-C21FD5CE03D1}"/>
              </a:ext>
            </a:extLst>
          </p:cNvPr>
          <p:cNvCxnSpPr>
            <a:stCxn id="101" idx="3"/>
            <a:endCxn id="129" idx="1"/>
          </p:cNvCxnSpPr>
          <p:nvPr/>
        </p:nvCxnSpPr>
        <p:spPr>
          <a:xfrm flipV="1">
            <a:off x="10114513" y="2828739"/>
            <a:ext cx="271724" cy="7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avec flèche 136">
            <a:extLst>
              <a:ext uri="{FF2B5EF4-FFF2-40B4-BE49-F238E27FC236}">
                <a16:creationId xmlns:a16="http://schemas.microsoft.com/office/drawing/2014/main" id="{905F6A30-A172-C228-0A71-AD9239BBEB82}"/>
              </a:ext>
            </a:extLst>
          </p:cNvPr>
          <p:cNvCxnSpPr>
            <a:stCxn id="103" idx="3"/>
            <a:endCxn id="130" idx="1"/>
          </p:cNvCxnSpPr>
          <p:nvPr/>
        </p:nvCxnSpPr>
        <p:spPr>
          <a:xfrm>
            <a:off x="10114512" y="3994743"/>
            <a:ext cx="271725" cy="42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F82647A-25E9-2DB3-E919-485596AC3D6B}"/>
              </a:ext>
            </a:extLst>
          </p:cNvPr>
          <p:cNvSpPr/>
          <p:nvPr/>
        </p:nvSpPr>
        <p:spPr>
          <a:xfrm>
            <a:off x="11221014" y="2089027"/>
            <a:ext cx="521098" cy="21269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fr-FR" sz="1400" dirty="0" err="1">
                <a:solidFill>
                  <a:srgbClr val="002060"/>
                </a:solidFill>
              </a:rPr>
              <a:t>flatten</a:t>
            </a:r>
            <a:endParaRPr lang="fr-FR" sz="1400" dirty="0">
              <a:solidFill>
                <a:srgbClr val="002060"/>
              </a:solidFill>
            </a:endParaRPr>
          </a:p>
        </p:txBody>
      </p:sp>
      <p:cxnSp>
        <p:nvCxnSpPr>
          <p:cNvPr id="144" name="Connecteur droit avec flèche 143">
            <a:extLst>
              <a:ext uri="{FF2B5EF4-FFF2-40B4-BE49-F238E27FC236}">
                <a16:creationId xmlns:a16="http://schemas.microsoft.com/office/drawing/2014/main" id="{92EB8E41-15E6-CAD5-6B92-241203AFE4CE}"/>
              </a:ext>
            </a:extLst>
          </p:cNvPr>
          <p:cNvCxnSpPr>
            <a:stCxn id="128" idx="3"/>
          </p:cNvCxnSpPr>
          <p:nvPr/>
        </p:nvCxnSpPr>
        <p:spPr>
          <a:xfrm>
            <a:off x="10907335" y="2302714"/>
            <a:ext cx="3076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eur droit avec flèche 145">
            <a:extLst>
              <a:ext uri="{FF2B5EF4-FFF2-40B4-BE49-F238E27FC236}">
                <a16:creationId xmlns:a16="http://schemas.microsoft.com/office/drawing/2014/main" id="{1B014ABD-4298-FB3A-CF8D-FF6E6D5B6E28}"/>
              </a:ext>
            </a:extLst>
          </p:cNvPr>
          <p:cNvCxnSpPr>
            <a:stCxn id="129" idx="3"/>
          </p:cNvCxnSpPr>
          <p:nvPr/>
        </p:nvCxnSpPr>
        <p:spPr>
          <a:xfrm>
            <a:off x="10907335" y="2828739"/>
            <a:ext cx="3174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eur droit avec flèche 147">
            <a:extLst>
              <a:ext uri="{FF2B5EF4-FFF2-40B4-BE49-F238E27FC236}">
                <a16:creationId xmlns:a16="http://schemas.microsoft.com/office/drawing/2014/main" id="{3FC1DED2-ED78-8ED3-0E3D-65E7E2C7744E}"/>
              </a:ext>
            </a:extLst>
          </p:cNvPr>
          <p:cNvCxnSpPr>
            <a:stCxn id="130" idx="3"/>
          </p:cNvCxnSpPr>
          <p:nvPr/>
        </p:nvCxnSpPr>
        <p:spPr>
          <a:xfrm>
            <a:off x="10907335" y="3999003"/>
            <a:ext cx="317499" cy="9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Accolades 148">
            <a:extLst>
              <a:ext uri="{FF2B5EF4-FFF2-40B4-BE49-F238E27FC236}">
                <a16:creationId xmlns:a16="http://schemas.microsoft.com/office/drawing/2014/main" id="{5078C00B-1C2E-5267-2000-4657046FDA54}"/>
              </a:ext>
            </a:extLst>
          </p:cNvPr>
          <p:cNvSpPr/>
          <p:nvPr/>
        </p:nvSpPr>
        <p:spPr>
          <a:xfrm>
            <a:off x="11160036" y="4551351"/>
            <a:ext cx="363794" cy="1686889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r>
              <a:rPr lang="fr-FR" sz="1400" dirty="0"/>
              <a:t>Vecteur 576 entiers</a:t>
            </a:r>
          </a:p>
        </p:txBody>
      </p:sp>
      <p:sp>
        <p:nvSpPr>
          <p:cNvPr id="151" name="Accolade ouvrante 150">
            <a:extLst>
              <a:ext uri="{FF2B5EF4-FFF2-40B4-BE49-F238E27FC236}">
                <a16:creationId xmlns:a16="http://schemas.microsoft.com/office/drawing/2014/main" id="{EEA06682-3DE7-CF7B-D956-C0266753124A}"/>
              </a:ext>
            </a:extLst>
          </p:cNvPr>
          <p:cNvSpPr/>
          <p:nvPr/>
        </p:nvSpPr>
        <p:spPr>
          <a:xfrm rot="5400000">
            <a:off x="2878127" y="127738"/>
            <a:ext cx="370192" cy="3566198"/>
          </a:xfrm>
          <a:prstGeom prst="leftBrace">
            <a:avLst>
              <a:gd name="adj1" fmla="val 8333"/>
              <a:gd name="adj2" fmla="val 5057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3" name="ZoneTexte 152">
            <a:extLst>
              <a:ext uri="{FF2B5EF4-FFF2-40B4-BE49-F238E27FC236}">
                <a16:creationId xmlns:a16="http://schemas.microsoft.com/office/drawing/2014/main" id="{C0F48A5B-0C2D-DF9F-633C-D6CDB1066290}"/>
              </a:ext>
            </a:extLst>
          </p:cNvPr>
          <p:cNvSpPr txBox="1"/>
          <p:nvPr/>
        </p:nvSpPr>
        <p:spPr>
          <a:xfrm>
            <a:off x="3033394" y="155242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 32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03F8FAA9-28D2-6E1E-3384-39A98B216F69}"/>
              </a:ext>
            </a:extLst>
          </p:cNvPr>
          <p:cNvSpPr txBox="1"/>
          <p:nvPr/>
        </p:nvSpPr>
        <p:spPr>
          <a:xfrm>
            <a:off x="6984961" y="1563003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 64</a:t>
            </a:r>
          </a:p>
        </p:txBody>
      </p:sp>
      <p:sp>
        <p:nvSpPr>
          <p:cNvPr id="161" name="ZoneTexte 160">
            <a:extLst>
              <a:ext uri="{FF2B5EF4-FFF2-40B4-BE49-F238E27FC236}">
                <a16:creationId xmlns:a16="http://schemas.microsoft.com/office/drawing/2014/main" id="{49142E38-8897-A792-43DE-4B7B4CF03C8B}"/>
              </a:ext>
            </a:extLst>
          </p:cNvPr>
          <p:cNvSpPr txBox="1"/>
          <p:nvPr/>
        </p:nvSpPr>
        <p:spPr>
          <a:xfrm>
            <a:off x="10066178" y="1552429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 64</a:t>
            </a:r>
          </a:p>
        </p:txBody>
      </p:sp>
      <p:sp>
        <p:nvSpPr>
          <p:cNvPr id="163" name="Accolade ouvrante 162">
            <a:extLst>
              <a:ext uri="{FF2B5EF4-FFF2-40B4-BE49-F238E27FC236}">
                <a16:creationId xmlns:a16="http://schemas.microsoft.com/office/drawing/2014/main" id="{9F325A3E-5475-BB16-1E9D-35C7F3B9374F}"/>
              </a:ext>
            </a:extLst>
          </p:cNvPr>
          <p:cNvSpPr/>
          <p:nvPr/>
        </p:nvSpPr>
        <p:spPr>
          <a:xfrm rot="5400000">
            <a:off x="6837612" y="54338"/>
            <a:ext cx="370192" cy="3714264"/>
          </a:xfrm>
          <a:prstGeom prst="leftBrace">
            <a:avLst>
              <a:gd name="adj1" fmla="val 8333"/>
              <a:gd name="adj2" fmla="val 5057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5" name="Accolade ouvrante 164">
            <a:extLst>
              <a:ext uri="{FF2B5EF4-FFF2-40B4-BE49-F238E27FC236}">
                <a16:creationId xmlns:a16="http://schemas.microsoft.com/office/drawing/2014/main" id="{FB0D61A5-E430-DB4E-FE40-CCD9ADB18E0B}"/>
              </a:ext>
            </a:extLst>
          </p:cNvPr>
          <p:cNvSpPr/>
          <p:nvPr/>
        </p:nvSpPr>
        <p:spPr>
          <a:xfrm rot="5400000">
            <a:off x="9888955" y="970934"/>
            <a:ext cx="370192" cy="1858457"/>
          </a:xfrm>
          <a:prstGeom prst="leftBrace">
            <a:avLst>
              <a:gd name="adj1" fmla="val 8333"/>
              <a:gd name="adj2" fmla="val 5057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68" name="Connecteur : en angle 167">
            <a:extLst>
              <a:ext uri="{FF2B5EF4-FFF2-40B4-BE49-F238E27FC236}">
                <a16:creationId xmlns:a16="http://schemas.microsoft.com/office/drawing/2014/main" id="{154ECBF5-C3DE-A532-3E55-752D813F45C1}"/>
              </a:ext>
            </a:extLst>
          </p:cNvPr>
          <p:cNvCxnSpPr>
            <a:cxnSpLocks/>
            <a:stCxn id="142" idx="3"/>
            <a:endCxn id="149" idx="3"/>
          </p:cNvCxnSpPr>
          <p:nvPr/>
        </p:nvCxnSpPr>
        <p:spPr>
          <a:xfrm flipH="1">
            <a:off x="11523830" y="3152498"/>
            <a:ext cx="218282" cy="2242298"/>
          </a:xfrm>
          <a:prstGeom prst="bentConnector3">
            <a:avLst>
              <a:gd name="adj1" fmla="val -10472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B43701A-2C57-6000-252E-28D69D7FCFC0}"/>
              </a:ext>
            </a:extLst>
          </p:cNvPr>
          <p:cNvSpPr/>
          <p:nvPr/>
        </p:nvSpPr>
        <p:spPr>
          <a:xfrm>
            <a:off x="9755661" y="4512250"/>
            <a:ext cx="875071" cy="4424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neurone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7712272-C15B-91CF-0C09-793709AE27E8}"/>
              </a:ext>
            </a:extLst>
          </p:cNvPr>
          <p:cNvSpPr/>
          <p:nvPr/>
        </p:nvSpPr>
        <p:spPr>
          <a:xfrm>
            <a:off x="9752408" y="5048762"/>
            <a:ext cx="875071" cy="4424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neurone</a:t>
            </a:r>
          </a:p>
        </p:txBody>
      </p:sp>
      <p:cxnSp>
        <p:nvCxnSpPr>
          <p:cNvPr id="174" name="Connecteur droit 173">
            <a:extLst>
              <a:ext uri="{FF2B5EF4-FFF2-40B4-BE49-F238E27FC236}">
                <a16:creationId xmlns:a16="http://schemas.microsoft.com/office/drawing/2014/main" id="{0BBECAA0-DCFC-9EAB-D18C-BB3924BEE6F5}"/>
              </a:ext>
            </a:extLst>
          </p:cNvPr>
          <p:cNvCxnSpPr>
            <a:cxnSpLocks/>
          </p:cNvCxnSpPr>
          <p:nvPr/>
        </p:nvCxnSpPr>
        <p:spPr>
          <a:xfrm>
            <a:off x="10193197" y="5597289"/>
            <a:ext cx="0" cy="24471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ectangle 176">
            <a:extLst>
              <a:ext uri="{FF2B5EF4-FFF2-40B4-BE49-F238E27FC236}">
                <a16:creationId xmlns:a16="http://schemas.microsoft.com/office/drawing/2014/main" id="{32F53D16-8E62-266E-B7B2-725549F0A85F}"/>
              </a:ext>
            </a:extLst>
          </p:cNvPr>
          <p:cNvSpPr/>
          <p:nvPr/>
        </p:nvSpPr>
        <p:spPr>
          <a:xfrm>
            <a:off x="9755661" y="5912362"/>
            <a:ext cx="875071" cy="4424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neurone</a:t>
            </a:r>
          </a:p>
        </p:txBody>
      </p:sp>
      <p:cxnSp>
        <p:nvCxnSpPr>
          <p:cNvPr id="179" name="Connecteur droit avec flèche 178">
            <a:extLst>
              <a:ext uri="{FF2B5EF4-FFF2-40B4-BE49-F238E27FC236}">
                <a16:creationId xmlns:a16="http://schemas.microsoft.com/office/drawing/2014/main" id="{6E99BA0C-EBF9-F054-A415-52237C0A129D}"/>
              </a:ext>
            </a:extLst>
          </p:cNvPr>
          <p:cNvCxnSpPr>
            <a:stCxn id="149" idx="1"/>
            <a:endCxn id="171" idx="3"/>
          </p:cNvCxnSpPr>
          <p:nvPr/>
        </p:nvCxnSpPr>
        <p:spPr>
          <a:xfrm flipH="1" flipV="1">
            <a:off x="10630732" y="4733476"/>
            <a:ext cx="529304" cy="661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eur droit avec flèche 180">
            <a:extLst>
              <a:ext uri="{FF2B5EF4-FFF2-40B4-BE49-F238E27FC236}">
                <a16:creationId xmlns:a16="http://schemas.microsoft.com/office/drawing/2014/main" id="{1A6AB4F3-0DC8-A18A-2694-94A250A7FAFE}"/>
              </a:ext>
            </a:extLst>
          </p:cNvPr>
          <p:cNvCxnSpPr>
            <a:stCxn id="149" idx="1"/>
            <a:endCxn id="173" idx="3"/>
          </p:cNvCxnSpPr>
          <p:nvPr/>
        </p:nvCxnSpPr>
        <p:spPr>
          <a:xfrm flipH="1" flipV="1">
            <a:off x="10627479" y="5269988"/>
            <a:ext cx="532557" cy="124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eur droit avec flèche 182">
            <a:extLst>
              <a:ext uri="{FF2B5EF4-FFF2-40B4-BE49-F238E27FC236}">
                <a16:creationId xmlns:a16="http://schemas.microsoft.com/office/drawing/2014/main" id="{63FFCBFC-197D-38D3-2035-957D281DDED3}"/>
              </a:ext>
            </a:extLst>
          </p:cNvPr>
          <p:cNvCxnSpPr>
            <a:stCxn id="149" idx="1"/>
            <a:endCxn id="177" idx="3"/>
          </p:cNvCxnSpPr>
          <p:nvPr/>
        </p:nvCxnSpPr>
        <p:spPr>
          <a:xfrm flipH="1">
            <a:off x="10630732" y="5394796"/>
            <a:ext cx="529304" cy="7387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Accolades 184">
            <a:extLst>
              <a:ext uri="{FF2B5EF4-FFF2-40B4-BE49-F238E27FC236}">
                <a16:creationId xmlns:a16="http://schemas.microsoft.com/office/drawing/2014/main" id="{CE81A560-EB0A-B624-8705-78D3522DB843}"/>
              </a:ext>
            </a:extLst>
          </p:cNvPr>
          <p:cNvSpPr/>
          <p:nvPr/>
        </p:nvSpPr>
        <p:spPr>
          <a:xfrm>
            <a:off x="9046401" y="4602151"/>
            <a:ext cx="363794" cy="1686889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r>
              <a:rPr lang="fr-FR" sz="1400" dirty="0"/>
              <a:t>128</a:t>
            </a:r>
          </a:p>
        </p:txBody>
      </p:sp>
      <p:cxnSp>
        <p:nvCxnSpPr>
          <p:cNvPr id="187" name="Connecteur droit avec flèche 186">
            <a:extLst>
              <a:ext uri="{FF2B5EF4-FFF2-40B4-BE49-F238E27FC236}">
                <a16:creationId xmlns:a16="http://schemas.microsoft.com/office/drawing/2014/main" id="{373F8A54-3BD2-48A0-7C81-D32BF8FCA0A3}"/>
              </a:ext>
            </a:extLst>
          </p:cNvPr>
          <p:cNvCxnSpPr>
            <a:cxnSpLocks/>
            <a:stCxn id="171" idx="1"/>
          </p:cNvCxnSpPr>
          <p:nvPr/>
        </p:nvCxnSpPr>
        <p:spPr>
          <a:xfrm flipH="1">
            <a:off x="9387840" y="4733476"/>
            <a:ext cx="3678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eur droit avec flèche 188">
            <a:extLst>
              <a:ext uri="{FF2B5EF4-FFF2-40B4-BE49-F238E27FC236}">
                <a16:creationId xmlns:a16="http://schemas.microsoft.com/office/drawing/2014/main" id="{C154D6C0-3A92-B698-F482-993117ED517F}"/>
              </a:ext>
            </a:extLst>
          </p:cNvPr>
          <p:cNvCxnSpPr>
            <a:stCxn id="173" idx="1"/>
          </p:cNvCxnSpPr>
          <p:nvPr/>
        </p:nvCxnSpPr>
        <p:spPr>
          <a:xfrm flipH="1">
            <a:off x="9367520" y="5269988"/>
            <a:ext cx="384888" cy="3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avec flèche 191">
            <a:extLst>
              <a:ext uri="{FF2B5EF4-FFF2-40B4-BE49-F238E27FC236}">
                <a16:creationId xmlns:a16="http://schemas.microsoft.com/office/drawing/2014/main" id="{94083957-D8BF-B48F-B27C-0120D353BC64}"/>
              </a:ext>
            </a:extLst>
          </p:cNvPr>
          <p:cNvCxnSpPr>
            <a:stCxn id="177" idx="1"/>
          </p:cNvCxnSpPr>
          <p:nvPr/>
        </p:nvCxnSpPr>
        <p:spPr>
          <a:xfrm flipH="1">
            <a:off x="9398000" y="6133588"/>
            <a:ext cx="357661" cy="30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E22DBD1C-B2E9-78C6-09B8-BBFB1D7CCB27}"/>
              </a:ext>
            </a:extLst>
          </p:cNvPr>
          <p:cNvSpPr/>
          <p:nvPr/>
        </p:nvSpPr>
        <p:spPr>
          <a:xfrm>
            <a:off x="5685079" y="4513129"/>
            <a:ext cx="875071" cy="4424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neurone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005C61B-BF3A-62AD-D2FA-A05C79B001DA}"/>
              </a:ext>
            </a:extLst>
          </p:cNvPr>
          <p:cNvSpPr/>
          <p:nvPr/>
        </p:nvSpPr>
        <p:spPr>
          <a:xfrm>
            <a:off x="5681826" y="5049641"/>
            <a:ext cx="875071" cy="4424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neurone</a:t>
            </a:r>
          </a:p>
        </p:txBody>
      </p:sp>
      <p:cxnSp>
        <p:nvCxnSpPr>
          <p:cNvPr id="195" name="Connecteur droit 194">
            <a:extLst>
              <a:ext uri="{FF2B5EF4-FFF2-40B4-BE49-F238E27FC236}">
                <a16:creationId xmlns:a16="http://schemas.microsoft.com/office/drawing/2014/main" id="{BDA00242-1B06-CDFE-7955-92E68E8717F1}"/>
              </a:ext>
            </a:extLst>
          </p:cNvPr>
          <p:cNvCxnSpPr>
            <a:cxnSpLocks/>
          </p:cNvCxnSpPr>
          <p:nvPr/>
        </p:nvCxnSpPr>
        <p:spPr>
          <a:xfrm>
            <a:off x="6122615" y="5598168"/>
            <a:ext cx="0" cy="244711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Rectangle 195">
            <a:extLst>
              <a:ext uri="{FF2B5EF4-FFF2-40B4-BE49-F238E27FC236}">
                <a16:creationId xmlns:a16="http://schemas.microsoft.com/office/drawing/2014/main" id="{A8805469-178D-28C3-0EB5-71153107D4C1}"/>
              </a:ext>
            </a:extLst>
          </p:cNvPr>
          <p:cNvSpPr/>
          <p:nvPr/>
        </p:nvSpPr>
        <p:spPr>
          <a:xfrm>
            <a:off x="5685079" y="5913241"/>
            <a:ext cx="875071" cy="4424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neurone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57964CF-C9F7-7DC4-8BF7-30A7026883C7}"/>
              </a:ext>
            </a:extLst>
          </p:cNvPr>
          <p:cNvSpPr/>
          <p:nvPr/>
        </p:nvSpPr>
        <p:spPr>
          <a:xfrm>
            <a:off x="8033689" y="4384403"/>
            <a:ext cx="521098" cy="21269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fr-FR" sz="1400" dirty="0">
                <a:solidFill>
                  <a:srgbClr val="002060"/>
                </a:solidFill>
              </a:rPr>
              <a:t>dropout</a:t>
            </a:r>
          </a:p>
        </p:txBody>
      </p:sp>
      <p:cxnSp>
        <p:nvCxnSpPr>
          <p:cNvPr id="200" name="Connecteur droit avec flèche 199">
            <a:extLst>
              <a:ext uri="{FF2B5EF4-FFF2-40B4-BE49-F238E27FC236}">
                <a16:creationId xmlns:a16="http://schemas.microsoft.com/office/drawing/2014/main" id="{411B3280-CD9B-AAC1-D75C-FE6AA66758F7}"/>
              </a:ext>
            </a:extLst>
          </p:cNvPr>
          <p:cNvCxnSpPr>
            <a:stCxn id="185" idx="1"/>
            <a:endCxn id="198" idx="3"/>
          </p:cNvCxnSpPr>
          <p:nvPr/>
        </p:nvCxnSpPr>
        <p:spPr>
          <a:xfrm flipH="1">
            <a:off x="8554787" y="5445596"/>
            <a:ext cx="491614" cy="2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Accolades 201">
            <a:extLst>
              <a:ext uri="{FF2B5EF4-FFF2-40B4-BE49-F238E27FC236}">
                <a16:creationId xmlns:a16="http://schemas.microsoft.com/office/drawing/2014/main" id="{A309DAEF-E1AA-DFB7-A331-AB032C640A07}"/>
              </a:ext>
            </a:extLst>
          </p:cNvPr>
          <p:cNvSpPr/>
          <p:nvPr/>
        </p:nvSpPr>
        <p:spPr>
          <a:xfrm>
            <a:off x="7161946" y="4602374"/>
            <a:ext cx="363794" cy="1686889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vert="vert" rtlCol="0" anchor="ctr"/>
          <a:lstStyle/>
          <a:p>
            <a:pPr algn="ctr"/>
            <a:r>
              <a:rPr lang="fr-FR" sz="1400" dirty="0"/>
              <a:t>128</a:t>
            </a:r>
          </a:p>
        </p:txBody>
      </p:sp>
      <p:cxnSp>
        <p:nvCxnSpPr>
          <p:cNvPr id="204" name="Connecteur droit avec flèche 203">
            <a:extLst>
              <a:ext uri="{FF2B5EF4-FFF2-40B4-BE49-F238E27FC236}">
                <a16:creationId xmlns:a16="http://schemas.microsoft.com/office/drawing/2014/main" id="{4F3AA1FD-C4F3-F9BF-7F84-B89730AB76BC}"/>
              </a:ext>
            </a:extLst>
          </p:cNvPr>
          <p:cNvCxnSpPr>
            <a:stCxn id="198" idx="1"/>
            <a:endCxn id="202" idx="3"/>
          </p:cNvCxnSpPr>
          <p:nvPr/>
        </p:nvCxnSpPr>
        <p:spPr>
          <a:xfrm flipH="1" flipV="1">
            <a:off x="7525740" y="5445819"/>
            <a:ext cx="507949" cy="2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eur droit avec flèche 205">
            <a:extLst>
              <a:ext uri="{FF2B5EF4-FFF2-40B4-BE49-F238E27FC236}">
                <a16:creationId xmlns:a16="http://schemas.microsoft.com/office/drawing/2014/main" id="{FA75FC95-F9DE-8B93-C5EB-CD1251F0622A}"/>
              </a:ext>
            </a:extLst>
          </p:cNvPr>
          <p:cNvCxnSpPr>
            <a:stCxn id="202" idx="1"/>
            <a:endCxn id="193" idx="3"/>
          </p:cNvCxnSpPr>
          <p:nvPr/>
        </p:nvCxnSpPr>
        <p:spPr>
          <a:xfrm flipH="1" flipV="1">
            <a:off x="6560150" y="4734355"/>
            <a:ext cx="601796" cy="711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eur droit avec flèche 207">
            <a:extLst>
              <a:ext uri="{FF2B5EF4-FFF2-40B4-BE49-F238E27FC236}">
                <a16:creationId xmlns:a16="http://schemas.microsoft.com/office/drawing/2014/main" id="{8339C0AE-2210-5F14-9683-22FC1790BAE8}"/>
              </a:ext>
            </a:extLst>
          </p:cNvPr>
          <p:cNvCxnSpPr>
            <a:stCxn id="202" idx="1"/>
            <a:endCxn id="194" idx="3"/>
          </p:cNvCxnSpPr>
          <p:nvPr/>
        </p:nvCxnSpPr>
        <p:spPr>
          <a:xfrm flipH="1" flipV="1">
            <a:off x="6556897" y="5270867"/>
            <a:ext cx="605049" cy="174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eur droit avec flèche 209">
            <a:extLst>
              <a:ext uri="{FF2B5EF4-FFF2-40B4-BE49-F238E27FC236}">
                <a16:creationId xmlns:a16="http://schemas.microsoft.com/office/drawing/2014/main" id="{6C356DB4-2350-8C06-696E-3D3EE3F480A0}"/>
              </a:ext>
            </a:extLst>
          </p:cNvPr>
          <p:cNvCxnSpPr>
            <a:stCxn id="202" idx="1"/>
            <a:endCxn id="196" idx="3"/>
          </p:cNvCxnSpPr>
          <p:nvPr/>
        </p:nvCxnSpPr>
        <p:spPr>
          <a:xfrm flipH="1">
            <a:off x="6560150" y="5445819"/>
            <a:ext cx="601796" cy="688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ZoneTexte 211">
            <a:extLst>
              <a:ext uri="{FF2B5EF4-FFF2-40B4-BE49-F238E27FC236}">
                <a16:creationId xmlns:a16="http://schemas.microsoft.com/office/drawing/2014/main" id="{C660FFCA-A93A-76C0-D92D-9468588957C8}"/>
              </a:ext>
            </a:extLst>
          </p:cNvPr>
          <p:cNvSpPr txBox="1"/>
          <p:nvPr/>
        </p:nvSpPr>
        <p:spPr>
          <a:xfrm>
            <a:off x="4479920" y="4580466"/>
            <a:ext cx="7721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proba 0</a:t>
            </a:r>
          </a:p>
        </p:txBody>
      </p:sp>
      <p:sp>
        <p:nvSpPr>
          <p:cNvPr id="214" name="ZoneTexte 213">
            <a:extLst>
              <a:ext uri="{FF2B5EF4-FFF2-40B4-BE49-F238E27FC236}">
                <a16:creationId xmlns:a16="http://schemas.microsoft.com/office/drawing/2014/main" id="{9B822A1D-E438-F4CF-BE5D-116A49070777}"/>
              </a:ext>
            </a:extLst>
          </p:cNvPr>
          <p:cNvSpPr txBox="1"/>
          <p:nvPr/>
        </p:nvSpPr>
        <p:spPr>
          <a:xfrm>
            <a:off x="4491538" y="5120734"/>
            <a:ext cx="7721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proba 1</a:t>
            </a:r>
          </a:p>
        </p:txBody>
      </p:sp>
      <p:sp>
        <p:nvSpPr>
          <p:cNvPr id="216" name="ZoneTexte 215">
            <a:extLst>
              <a:ext uri="{FF2B5EF4-FFF2-40B4-BE49-F238E27FC236}">
                <a16:creationId xmlns:a16="http://schemas.microsoft.com/office/drawing/2014/main" id="{82AFC76E-D5D8-70B6-F1FA-0B2F96FB268D}"/>
              </a:ext>
            </a:extLst>
          </p:cNvPr>
          <p:cNvSpPr txBox="1"/>
          <p:nvPr/>
        </p:nvSpPr>
        <p:spPr>
          <a:xfrm>
            <a:off x="4490489" y="5984334"/>
            <a:ext cx="7721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proba 9</a:t>
            </a:r>
          </a:p>
        </p:txBody>
      </p:sp>
      <p:cxnSp>
        <p:nvCxnSpPr>
          <p:cNvPr id="218" name="Connecteur droit avec flèche 217">
            <a:extLst>
              <a:ext uri="{FF2B5EF4-FFF2-40B4-BE49-F238E27FC236}">
                <a16:creationId xmlns:a16="http://schemas.microsoft.com/office/drawing/2014/main" id="{4BD4F221-6E9E-3FBD-80ED-E6C678DD4359}"/>
              </a:ext>
            </a:extLst>
          </p:cNvPr>
          <p:cNvCxnSpPr>
            <a:stCxn id="193" idx="1"/>
            <a:endCxn id="212" idx="3"/>
          </p:cNvCxnSpPr>
          <p:nvPr/>
        </p:nvCxnSpPr>
        <p:spPr>
          <a:xfrm flipH="1">
            <a:off x="5252054" y="4734355"/>
            <a:ext cx="4330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avec flèche 219">
            <a:extLst>
              <a:ext uri="{FF2B5EF4-FFF2-40B4-BE49-F238E27FC236}">
                <a16:creationId xmlns:a16="http://schemas.microsoft.com/office/drawing/2014/main" id="{75D9814E-75C9-3130-6C32-30D164100098}"/>
              </a:ext>
            </a:extLst>
          </p:cNvPr>
          <p:cNvCxnSpPr>
            <a:stCxn id="194" idx="1"/>
            <a:endCxn id="214" idx="3"/>
          </p:cNvCxnSpPr>
          <p:nvPr/>
        </p:nvCxnSpPr>
        <p:spPr>
          <a:xfrm flipH="1">
            <a:off x="5263672" y="5270867"/>
            <a:ext cx="418154" cy="3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avec flèche 221">
            <a:extLst>
              <a:ext uri="{FF2B5EF4-FFF2-40B4-BE49-F238E27FC236}">
                <a16:creationId xmlns:a16="http://schemas.microsoft.com/office/drawing/2014/main" id="{B5421801-7AA1-59A4-305A-4B2281986EB6}"/>
              </a:ext>
            </a:extLst>
          </p:cNvPr>
          <p:cNvCxnSpPr>
            <a:stCxn id="196" idx="1"/>
            <a:endCxn id="216" idx="3"/>
          </p:cNvCxnSpPr>
          <p:nvPr/>
        </p:nvCxnSpPr>
        <p:spPr>
          <a:xfrm flipH="1">
            <a:off x="5262623" y="6134467"/>
            <a:ext cx="422456" cy="3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Accolade ouvrante 223">
            <a:extLst>
              <a:ext uri="{FF2B5EF4-FFF2-40B4-BE49-F238E27FC236}">
                <a16:creationId xmlns:a16="http://schemas.microsoft.com/office/drawing/2014/main" id="{4E6FA110-732F-ECB5-34C5-FC7C890B3C44}"/>
              </a:ext>
            </a:extLst>
          </p:cNvPr>
          <p:cNvSpPr/>
          <p:nvPr/>
        </p:nvSpPr>
        <p:spPr>
          <a:xfrm rot="16200000">
            <a:off x="5943091" y="6010427"/>
            <a:ext cx="370192" cy="1034918"/>
          </a:xfrm>
          <a:prstGeom prst="leftBrace">
            <a:avLst>
              <a:gd name="adj1" fmla="val 8333"/>
              <a:gd name="adj2" fmla="val 5057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6" name="Accolade ouvrante 225">
            <a:extLst>
              <a:ext uri="{FF2B5EF4-FFF2-40B4-BE49-F238E27FC236}">
                <a16:creationId xmlns:a16="http://schemas.microsoft.com/office/drawing/2014/main" id="{170084DF-B839-75F5-9316-271E2B975F04}"/>
              </a:ext>
            </a:extLst>
          </p:cNvPr>
          <p:cNvSpPr/>
          <p:nvPr/>
        </p:nvSpPr>
        <p:spPr>
          <a:xfrm rot="16200000">
            <a:off x="10011740" y="6020587"/>
            <a:ext cx="370192" cy="1034918"/>
          </a:xfrm>
          <a:prstGeom prst="leftBrace">
            <a:avLst>
              <a:gd name="adj1" fmla="val 8333"/>
              <a:gd name="adj2" fmla="val 5057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8" name="ZoneTexte 227">
            <a:extLst>
              <a:ext uri="{FF2B5EF4-FFF2-40B4-BE49-F238E27FC236}">
                <a16:creationId xmlns:a16="http://schemas.microsoft.com/office/drawing/2014/main" id="{0886764D-EDBD-EDC2-94C9-4D17F03ED73C}"/>
              </a:ext>
            </a:extLst>
          </p:cNvPr>
          <p:cNvSpPr txBox="1"/>
          <p:nvPr/>
        </p:nvSpPr>
        <p:spPr>
          <a:xfrm>
            <a:off x="10256947" y="6488668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 128</a:t>
            </a:r>
          </a:p>
        </p:txBody>
      </p:sp>
      <p:sp>
        <p:nvSpPr>
          <p:cNvPr id="230" name="ZoneTexte 229">
            <a:extLst>
              <a:ext uri="{FF2B5EF4-FFF2-40B4-BE49-F238E27FC236}">
                <a16:creationId xmlns:a16="http://schemas.microsoft.com/office/drawing/2014/main" id="{B2D23E4E-7E05-244F-9810-EB17174F4A3F}"/>
              </a:ext>
            </a:extLst>
          </p:cNvPr>
          <p:cNvSpPr txBox="1"/>
          <p:nvPr/>
        </p:nvSpPr>
        <p:spPr>
          <a:xfrm>
            <a:off x="6143804" y="6488668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 10</a:t>
            </a:r>
          </a:p>
        </p:txBody>
      </p:sp>
      <p:sp>
        <p:nvSpPr>
          <p:cNvPr id="232" name="Parenthèses 231">
            <a:extLst>
              <a:ext uri="{FF2B5EF4-FFF2-40B4-BE49-F238E27FC236}">
                <a16:creationId xmlns:a16="http://schemas.microsoft.com/office/drawing/2014/main" id="{D5899495-C1C8-9319-A9E1-92EB6178E82E}"/>
              </a:ext>
            </a:extLst>
          </p:cNvPr>
          <p:cNvSpPr/>
          <p:nvPr/>
        </p:nvSpPr>
        <p:spPr>
          <a:xfrm>
            <a:off x="187728" y="4888340"/>
            <a:ext cx="953729" cy="83174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400" dirty="0"/>
              <a:t>Bitmap 28x28 d’entiers0-255</a:t>
            </a:r>
          </a:p>
        </p:txBody>
      </p:sp>
      <p:cxnSp>
        <p:nvCxnSpPr>
          <p:cNvPr id="234" name="Connecteur droit avec flèche 233">
            <a:extLst>
              <a:ext uri="{FF2B5EF4-FFF2-40B4-BE49-F238E27FC236}">
                <a16:creationId xmlns:a16="http://schemas.microsoft.com/office/drawing/2014/main" id="{27412790-3E5A-CD62-6610-F92692E71E38}"/>
              </a:ext>
            </a:extLst>
          </p:cNvPr>
          <p:cNvCxnSpPr>
            <a:stCxn id="232" idx="0"/>
            <a:endCxn id="4" idx="2"/>
          </p:cNvCxnSpPr>
          <p:nvPr/>
        </p:nvCxnSpPr>
        <p:spPr>
          <a:xfrm flipV="1">
            <a:off x="664593" y="3668017"/>
            <a:ext cx="1" cy="12203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Signe de division 234">
            <a:extLst>
              <a:ext uri="{FF2B5EF4-FFF2-40B4-BE49-F238E27FC236}">
                <a16:creationId xmlns:a16="http://schemas.microsoft.com/office/drawing/2014/main" id="{3BEC6A80-CC53-4F51-07E1-51C9FA92ADE4}"/>
              </a:ext>
            </a:extLst>
          </p:cNvPr>
          <p:cNvSpPr/>
          <p:nvPr/>
        </p:nvSpPr>
        <p:spPr>
          <a:xfrm>
            <a:off x="707827" y="4490720"/>
            <a:ext cx="287853" cy="243840"/>
          </a:xfrm>
          <a:prstGeom prst="mathDivid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7" name="ZoneTexte 236">
            <a:extLst>
              <a:ext uri="{FF2B5EF4-FFF2-40B4-BE49-F238E27FC236}">
                <a16:creationId xmlns:a16="http://schemas.microsoft.com/office/drawing/2014/main" id="{0DB2692A-EC25-7E49-9334-0DC9A812E355}"/>
              </a:ext>
            </a:extLst>
          </p:cNvPr>
          <p:cNvSpPr txBox="1"/>
          <p:nvPr/>
        </p:nvSpPr>
        <p:spPr>
          <a:xfrm>
            <a:off x="914378" y="4460220"/>
            <a:ext cx="473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255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BC255E61-298B-FF1C-F5E8-10D88626E4C7}"/>
              </a:ext>
            </a:extLst>
          </p:cNvPr>
          <p:cNvSpPr/>
          <p:nvPr/>
        </p:nvSpPr>
        <p:spPr>
          <a:xfrm>
            <a:off x="4927602" y="2174240"/>
            <a:ext cx="95154" cy="19909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41" name="Connecteur droit avec flèche 240">
            <a:extLst>
              <a:ext uri="{FF2B5EF4-FFF2-40B4-BE49-F238E27FC236}">
                <a16:creationId xmlns:a16="http://schemas.microsoft.com/office/drawing/2014/main" id="{24E44635-CB1C-BDDC-E7B4-8C27C81C2461}"/>
              </a:ext>
            </a:extLst>
          </p:cNvPr>
          <p:cNvCxnSpPr>
            <a:stCxn id="39" idx="3"/>
          </p:cNvCxnSpPr>
          <p:nvPr/>
        </p:nvCxnSpPr>
        <p:spPr>
          <a:xfrm>
            <a:off x="4723747" y="2316152"/>
            <a:ext cx="203853" cy="7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avec flèche 242">
            <a:extLst>
              <a:ext uri="{FF2B5EF4-FFF2-40B4-BE49-F238E27FC236}">
                <a16:creationId xmlns:a16="http://schemas.microsoft.com/office/drawing/2014/main" id="{12110F3F-97C8-5A69-2B48-7D39C2605109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4723747" y="2836277"/>
            <a:ext cx="210391" cy="59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eur droit avec flèche 245">
            <a:extLst>
              <a:ext uri="{FF2B5EF4-FFF2-40B4-BE49-F238E27FC236}">
                <a16:creationId xmlns:a16="http://schemas.microsoft.com/office/drawing/2014/main" id="{BDD202E3-FD30-B506-5D03-C8938D3CBC2B}"/>
              </a:ext>
            </a:extLst>
          </p:cNvPr>
          <p:cNvCxnSpPr>
            <a:stCxn id="41" idx="3"/>
          </p:cNvCxnSpPr>
          <p:nvPr/>
        </p:nvCxnSpPr>
        <p:spPr>
          <a:xfrm>
            <a:off x="4723747" y="4012441"/>
            <a:ext cx="214013" cy="5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eur droit avec flèche 247">
            <a:extLst>
              <a:ext uri="{FF2B5EF4-FFF2-40B4-BE49-F238E27FC236}">
                <a16:creationId xmlns:a16="http://schemas.microsoft.com/office/drawing/2014/main" id="{816665A8-7DC9-7FBC-3D9A-0133BA871C2F}"/>
              </a:ext>
            </a:extLst>
          </p:cNvPr>
          <p:cNvCxnSpPr>
            <a:stCxn id="239" idx="3"/>
            <a:endCxn id="44" idx="1"/>
          </p:cNvCxnSpPr>
          <p:nvPr/>
        </p:nvCxnSpPr>
        <p:spPr>
          <a:xfrm flipV="1">
            <a:off x="5022756" y="2323691"/>
            <a:ext cx="249370" cy="8460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eur droit avec flèche 249">
            <a:extLst>
              <a:ext uri="{FF2B5EF4-FFF2-40B4-BE49-F238E27FC236}">
                <a16:creationId xmlns:a16="http://schemas.microsoft.com/office/drawing/2014/main" id="{8114B354-1ABF-BF35-A47A-120B02E52796}"/>
              </a:ext>
            </a:extLst>
          </p:cNvPr>
          <p:cNvCxnSpPr>
            <a:stCxn id="239" idx="3"/>
            <a:endCxn id="45" idx="1"/>
          </p:cNvCxnSpPr>
          <p:nvPr/>
        </p:nvCxnSpPr>
        <p:spPr>
          <a:xfrm flipV="1">
            <a:off x="5022756" y="2849716"/>
            <a:ext cx="249369" cy="319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eur droit avec flèche 251">
            <a:extLst>
              <a:ext uri="{FF2B5EF4-FFF2-40B4-BE49-F238E27FC236}">
                <a16:creationId xmlns:a16="http://schemas.microsoft.com/office/drawing/2014/main" id="{6CA4DEB6-E383-1934-670B-75B924BFD415}"/>
              </a:ext>
            </a:extLst>
          </p:cNvPr>
          <p:cNvCxnSpPr>
            <a:stCxn id="239" idx="3"/>
            <a:endCxn id="47" idx="1"/>
          </p:cNvCxnSpPr>
          <p:nvPr/>
        </p:nvCxnSpPr>
        <p:spPr>
          <a:xfrm>
            <a:off x="5022756" y="3169704"/>
            <a:ext cx="249368" cy="8384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9070952-F533-4344-EE11-62D79903A412}"/>
              </a:ext>
            </a:extLst>
          </p:cNvPr>
          <p:cNvSpPr/>
          <p:nvPr/>
        </p:nvSpPr>
        <p:spPr>
          <a:xfrm>
            <a:off x="8950688" y="2157033"/>
            <a:ext cx="95154" cy="19909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6" name="Connecteur droit avec flèche 255">
            <a:extLst>
              <a:ext uri="{FF2B5EF4-FFF2-40B4-BE49-F238E27FC236}">
                <a16:creationId xmlns:a16="http://schemas.microsoft.com/office/drawing/2014/main" id="{48CEA2EE-FEF7-4A90-10A4-5D87E87604BD}"/>
              </a:ext>
            </a:extLst>
          </p:cNvPr>
          <p:cNvCxnSpPr>
            <a:stCxn id="90" idx="3"/>
          </p:cNvCxnSpPr>
          <p:nvPr/>
        </p:nvCxnSpPr>
        <p:spPr>
          <a:xfrm>
            <a:off x="8731774" y="2302714"/>
            <a:ext cx="2293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eur droit avec flèche 257">
            <a:extLst>
              <a:ext uri="{FF2B5EF4-FFF2-40B4-BE49-F238E27FC236}">
                <a16:creationId xmlns:a16="http://schemas.microsoft.com/office/drawing/2014/main" id="{4319A95A-D53A-0CAC-28C4-C30339145A01}"/>
              </a:ext>
            </a:extLst>
          </p:cNvPr>
          <p:cNvCxnSpPr>
            <a:stCxn id="91" idx="3"/>
          </p:cNvCxnSpPr>
          <p:nvPr/>
        </p:nvCxnSpPr>
        <p:spPr>
          <a:xfrm>
            <a:off x="8731774" y="2828739"/>
            <a:ext cx="2191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eur droit avec flèche 259">
            <a:extLst>
              <a:ext uri="{FF2B5EF4-FFF2-40B4-BE49-F238E27FC236}">
                <a16:creationId xmlns:a16="http://schemas.microsoft.com/office/drawing/2014/main" id="{24F9AB11-EA83-8129-9A89-ADD748967306}"/>
              </a:ext>
            </a:extLst>
          </p:cNvPr>
          <p:cNvCxnSpPr>
            <a:stCxn id="92" idx="3"/>
          </p:cNvCxnSpPr>
          <p:nvPr/>
        </p:nvCxnSpPr>
        <p:spPr>
          <a:xfrm flipV="1">
            <a:off x="8731774" y="3994742"/>
            <a:ext cx="219186" cy="4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eur droit avec flèche 263">
            <a:extLst>
              <a:ext uri="{FF2B5EF4-FFF2-40B4-BE49-F238E27FC236}">
                <a16:creationId xmlns:a16="http://schemas.microsoft.com/office/drawing/2014/main" id="{72F8E1FB-AC84-91E6-556C-4E896E559846}"/>
              </a:ext>
            </a:extLst>
          </p:cNvPr>
          <p:cNvCxnSpPr>
            <a:stCxn id="254" idx="3"/>
            <a:endCxn id="100" idx="1"/>
          </p:cNvCxnSpPr>
          <p:nvPr/>
        </p:nvCxnSpPr>
        <p:spPr>
          <a:xfrm flipV="1">
            <a:off x="9045842" y="2310253"/>
            <a:ext cx="193601" cy="842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eur droit avec flèche 265">
            <a:extLst>
              <a:ext uri="{FF2B5EF4-FFF2-40B4-BE49-F238E27FC236}">
                <a16:creationId xmlns:a16="http://schemas.microsoft.com/office/drawing/2014/main" id="{39CF3393-772A-A739-D775-0704290D2DFF}"/>
              </a:ext>
            </a:extLst>
          </p:cNvPr>
          <p:cNvCxnSpPr>
            <a:stCxn id="254" idx="3"/>
            <a:endCxn id="101" idx="1"/>
          </p:cNvCxnSpPr>
          <p:nvPr/>
        </p:nvCxnSpPr>
        <p:spPr>
          <a:xfrm flipV="1">
            <a:off x="9045842" y="2836278"/>
            <a:ext cx="193600" cy="3162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eur droit avec flèche 267">
            <a:extLst>
              <a:ext uri="{FF2B5EF4-FFF2-40B4-BE49-F238E27FC236}">
                <a16:creationId xmlns:a16="http://schemas.microsoft.com/office/drawing/2014/main" id="{DD6AC77C-0E99-76AF-25E7-B5F841356A9E}"/>
              </a:ext>
            </a:extLst>
          </p:cNvPr>
          <p:cNvCxnSpPr>
            <a:stCxn id="254" idx="3"/>
            <a:endCxn id="103" idx="1"/>
          </p:cNvCxnSpPr>
          <p:nvPr/>
        </p:nvCxnSpPr>
        <p:spPr>
          <a:xfrm>
            <a:off x="9045842" y="3152497"/>
            <a:ext cx="193599" cy="8422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14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8E8856-6467-85A9-BD22-BEF42B07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Principe de fonctionnement du modèle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F6D719-263B-2169-2FED-2ACBCEFEF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/>
              <a:t>IMAGE 28 × 28 : entrée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COnv2D : détecte des motifs simples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MaxPooling</a:t>
            </a:r>
            <a:r>
              <a:rPr lang="fr-FR" dirty="0"/>
              <a:t> : réduit la quantité d'information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Conv2D : détecte des motifs plus complexes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 err="1"/>
              <a:t>MaxPooling</a:t>
            </a:r>
            <a:r>
              <a:rPr lang="fr-FR" dirty="0"/>
              <a:t> : réduit à nouveau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Conv2D : combine les motifs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Flatten : transforme tout en vecteur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Dense : effectue la classification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Dropout : limite le surapprentissage</a:t>
            </a:r>
          </a:p>
          <a:p>
            <a:pPr marL="514350" indent="-514350">
              <a:buFont typeface="+mj-lt"/>
              <a:buAutoNum type="arabicPeriod"/>
            </a:pPr>
            <a:r>
              <a:rPr lang="fr-FR" dirty="0"/>
              <a:t>Dense 10 + </a:t>
            </a:r>
            <a:r>
              <a:rPr lang="fr-FR" dirty="0" err="1"/>
              <a:t>softmax</a:t>
            </a:r>
            <a:r>
              <a:rPr lang="fr-FR" dirty="0"/>
              <a:t> : calcule les probabilités pour chaque chiffre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2860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C857F9-0E93-D635-E13D-B925736E6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Couche Conv2D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7F2548-DEDE-09FA-C75E-CBDBA27A5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La couche avec ce composant est configurée par </a:t>
            </a:r>
            <a:br>
              <a:rPr lang="fr-FR" dirty="0"/>
            </a:br>
            <a:r>
              <a:rPr lang="fr-FR" dirty="0"/>
              <a:t>Conv2D(32, (3, 3), activation='relu’)</a:t>
            </a:r>
          </a:p>
          <a:p>
            <a:pPr marL="0" indent="0">
              <a:buNone/>
            </a:pPr>
            <a:r>
              <a:rPr lang="fr-FR" dirty="0"/>
              <a:t>où 32 est le nombre de filtres dans la couche (32 ou 64 dans le schéma précédent),</a:t>
            </a:r>
          </a:p>
          <a:p>
            <a:pPr marL="0" indent="0">
              <a:buNone/>
            </a:pPr>
            <a:r>
              <a:rPr lang="fr-FR" dirty="0"/>
              <a:t>(3, 3) est la taille de la fenêtre utilisée pour le calcul,</a:t>
            </a:r>
          </a:p>
          <a:p>
            <a:pPr marL="0" indent="0">
              <a:buNone/>
            </a:pPr>
            <a:r>
              <a:rPr lang="fr-FR" dirty="0"/>
              <a:t>l’activation est la fonction appliquée au résultat du calcul, ici « relu » définie par : </a:t>
            </a:r>
            <a:r>
              <a:rPr lang="fr-FR" dirty="0" err="1"/>
              <a:t>ReLU</a:t>
            </a:r>
            <a:r>
              <a:rPr lang="fr-FR" dirty="0"/>
              <a:t>(z) = z si z&gt;0, = 0 si z&lt;0</a:t>
            </a:r>
          </a:p>
        </p:txBody>
      </p:sp>
    </p:spTree>
    <p:extLst>
      <p:ext uri="{BB962C8B-B14F-4D97-AF65-F5344CB8AC3E}">
        <p14:creationId xmlns:p14="http://schemas.microsoft.com/office/powerpoint/2010/main" val="2555048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F88E16-F1D5-977B-0C55-FCF4EEF3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37"/>
            <a:ext cx="10515600" cy="993405"/>
          </a:xfrm>
        </p:spPr>
        <p:txBody>
          <a:bodyPr/>
          <a:lstStyle/>
          <a:p>
            <a:pPr algn="ctr"/>
            <a:r>
              <a:rPr lang="fr-FR" dirty="0"/>
              <a:t>Calculs de Conv2D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276C5E-13B4-58A6-FA99-D2825A52B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309" y="946057"/>
            <a:ext cx="10515600" cy="41613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sz="2000" dirty="0"/>
              <a:t>Pour chaque matrice en entrée, une fenêtre 3x3 balaie la matrice. À chaque position, le filtre applique ses 9 poids aux 9 valeurs contenues dans la fenêtre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41160-8593-9856-6B51-3B8ACE61AE45}"/>
              </a:ext>
            </a:extLst>
          </p:cNvPr>
          <p:cNvSpPr/>
          <p:nvPr/>
        </p:nvSpPr>
        <p:spPr>
          <a:xfrm>
            <a:off x="736595" y="1658859"/>
            <a:ext cx="2811043" cy="2811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557AC00-8721-B810-3C98-56CBFE0091B9}"/>
              </a:ext>
            </a:extLst>
          </p:cNvPr>
          <p:cNvSpPr txBox="1"/>
          <p:nvPr/>
        </p:nvSpPr>
        <p:spPr>
          <a:xfrm>
            <a:off x="828035" y="1740138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X1,1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E271DAA-B53F-3BB2-C048-8E1C7518ACA4}"/>
              </a:ext>
            </a:extLst>
          </p:cNvPr>
          <p:cNvSpPr txBox="1"/>
          <p:nvPr/>
        </p:nvSpPr>
        <p:spPr>
          <a:xfrm>
            <a:off x="1231158" y="1740138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X1,2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4752C90-2E67-B3D5-AEC0-48E90D7FE0F7}"/>
              </a:ext>
            </a:extLst>
          </p:cNvPr>
          <p:cNvSpPr txBox="1"/>
          <p:nvPr/>
        </p:nvSpPr>
        <p:spPr>
          <a:xfrm>
            <a:off x="1634281" y="1739688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X1,3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FC71048-E29C-DE58-5F9F-395D23839DA4}"/>
              </a:ext>
            </a:extLst>
          </p:cNvPr>
          <p:cNvSpPr txBox="1"/>
          <p:nvPr/>
        </p:nvSpPr>
        <p:spPr>
          <a:xfrm>
            <a:off x="2037404" y="1739688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X1,4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37508AF-1BFB-CFC9-EBEA-8D27BDBF9F8C}"/>
              </a:ext>
            </a:extLst>
          </p:cNvPr>
          <p:cNvSpPr txBox="1"/>
          <p:nvPr/>
        </p:nvSpPr>
        <p:spPr>
          <a:xfrm>
            <a:off x="3144515" y="1739688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X1,n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AEE52632-58C6-D14B-12EF-EA4F29D9E559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2440527" y="1847410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8226DB46-25FC-4674-7A05-DC153FEEEB74}"/>
              </a:ext>
            </a:extLst>
          </p:cNvPr>
          <p:cNvSpPr txBox="1"/>
          <p:nvPr/>
        </p:nvSpPr>
        <p:spPr>
          <a:xfrm>
            <a:off x="828035" y="1955582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X2,1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9A417B8-1023-B440-E4AF-4F86A32F42B2}"/>
              </a:ext>
            </a:extLst>
          </p:cNvPr>
          <p:cNvSpPr txBox="1"/>
          <p:nvPr/>
        </p:nvSpPr>
        <p:spPr>
          <a:xfrm>
            <a:off x="1231158" y="1955132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X2,2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5365AF3-2A64-A0A2-586C-16A978CD135C}"/>
              </a:ext>
            </a:extLst>
          </p:cNvPr>
          <p:cNvSpPr txBox="1"/>
          <p:nvPr/>
        </p:nvSpPr>
        <p:spPr>
          <a:xfrm>
            <a:off x="1634281" y="1955132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X2,3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A3DCA54-78B7-3729-0E53-BF87DC14A747}"/>
              </a:ext>
            </a:extLst>
          </p:cNvPr>
          <p:cNvSpPr txBox="1"/>
          <p:nvPr/>
        </p:nvSpPr>
        <p:spPr>
          <a:xfrm>
            <a:off x="2037404" y="1955132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X2,4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48FCDE0-5E7F-77C3-2815-791DAB78B0DC}"/>
              </a:ext>
            </a:extLst>
          </p:cNvPr>
          <p:cNvSpPr txBox="1"/>
          <p:nvPr/>
        </p:nvSpPr>
        <p:spPr>
          <a:xfrm>
            <a:off x="3144515" y="1955132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X2,n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C8665AC-EC3D-9155-4312-AE7045AB0418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2440527" y="2062854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EC335317-22DE-C461-AB5D-14A76F713196}"/>
              </a:ext>
            </a:extLst>
          </p:cNvPr>
          <p:cNvSpPr txBox="1"/>
          <p:nvPr/>
        </p:nvSpPr>
        <p:spPr>
          <a:xfrm>
            <a:off x="828035" y="2170126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X3,1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2946104-FBB1-30D2-F59E-B83DD47B464E}"/>
              </a:ext>
            </a:extLst>
          </p:cNvPr>
          <p:cNvSpPr txBox="1"/>
          <p:nvPr/>
        </p:nvSpPr>
        <p:spPr>
          <a:xfrm>
            <a:off x="1231158" y="2170126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X3,2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AD2C438-6E25-F29C-F5C5-454FE314A940}"/>
              </a:ext>
            </a:extLst>
          </p:cNvPr>
          <p:cNvSpPr txBox="1"/>
          <p:nvPr/>
        </p:nvSpPr>
        <p:spPr>
          <a:xfrm>
            <a:off x="1634281" y="2169676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X3,3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B80B5615-4F63-0AC9-EA48-12F4DCCFBDC0}"/>
              </a:ext>
            </a:extLst>
          </p:cNvPr>
          <p:cNvSpPr txBox="1"/>
          <p:nvPr/>
        </p:nvSpPr>
        <p:spPr>
          <a:xfrm>
            <a:off x="2037404" y="2169676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X3,4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B1D42050-FE76-1912-4EC0-C6B7E0C6B53C}"/>
              </a:ext>
            </a:extLst>
          </p:cNvPr>
          <p:cNvSpPr txBox="1"/>
          <p:nvPr/>
        </p:nvSpPr>
        <p:spPr>
          <a:xfrm>
            <a:off x="3144515" y="2169676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X3,n</a:t>
            </a: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2258CAC8-575C-23B3-86D1-013B72BBEAB7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2440527" y="2277398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ZoneTexte 29">
            <a:extLst>
              <a:ext uri="{FF2B5EF4-FFF2-40B4-BE49-F238E27FC236}">
                <a16:creationId xmlns:a16="http://schemas.microsoft.com/office/drawing/2014/main" id="{D41D1DBD-1BF4-DA63-53EF-A9B5881817BE}"/>
              </a:ext>
            </a:extLst>
          </p:cNvPr>
          <p:cNvSpPr txBox="1"/>
          <p:nvPr/>
        </p:nvSpPr>
        <p:spPr>
          <a:xfrm>
            <a:off x="828035" y="2383770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X4,1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45647B8D-9B8A-DBFE-2435-1FB32793D266}"/>
              </a:ext>
            </a:extLst>
          </p:cNvPr>
          <p:cNvSpPr txBox="1"/>
          <p:nvPr/>
        </p:nvSpPr>
        <p:spPr>
          <a:xfrm>
            <a:off x="1231158" y="2383770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X4,2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1AEB809C-AC8E-B6AA-BCB8-F382F1037C63}"/>
              </a:ext>
            </a:extLst>
          </p:cNvPr>
          <p:cNvSpPr txBox="1"/>
          <p:nvPr/>
        </p:nvSpPr>
        <p:spPr>
          <a:xfrm>
            <a:off x="1634281" y="2383320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X4,3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84F3513-128C-6647-A6D4-4CA6A6862E23}"/>
              </a:ext>
            </a:extLst>
          </p:cNvPr>
          <p:cNvSpPr txBox="1"/>
          <p:nvPr/>
        </p:nvSpPr>
        <p:spPr>
          <a:xfrm>
            <a:off x="2037404" y="2383320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X4,4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4A22CF6A-6B10-0735-8B12-6FE7B2C5C5EE}"/>
              </a:ext>
            </a:extLst>
          </p:cNvPr>
          <p:cNvSpPr txBox="1"/>
          <p:nvPr/>
        </p:nvSpPr>
        <p:spPr>
          <a:xfrm>
            <a:off x="3144515" y="2383320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X4,n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95418845-907E-13B7-23F3-BB02D2DFD4F2}"/>
              </a:ext>
            </a:extLst>
          </p:cNvPr>
          <p:cNvCxnSpPr>
            <a:stCxn id="33" idx="3"/>
            <a:endCxn id="34" idx="1"/>
          </p:cNvCxnSpPr>
          <p:nvPr/>
        </p:nvCxnSpPr>
        <p:spPr>
          <a:xfrm>
            <a:off x="2440527" y="2491042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E2B11482-40DB-3845-512F-3151FA5FB0E8}"/>
              </a:ext>
            </a:extLst>
          </p:cNvPr>
          <p:cNvSpPr txBox="1"/>
          <p:nvPr/>
        </p:nvSpPr>
        <p:spPr>
          <a:xfrm>
            <a:off x="828035" y="4199472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Xn,1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957C4D92-ECB9-FC3D-E416-AABE3A8D1CAD}"/>
              </a:ext>
            </a:extLst>
          </p:cNvPr>
          <p:cNvSpPr txBox="1"/>
          <p:nvPr/>
        </p:nvSpPr>
        <p:spPr>
          <a:xfrm>
            <a:off x="1231158" y="4199472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Xn,2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601E0DFA-5746-02FE-8B93-2DCD0F3BEE5C}"/>
              </a:ext>
            </a:extLst>
          </p:cNvPr>
          <p:cNvSpPr txBox="1"/>
          <p:nvPr/>
        </p:nvSpPr>
        <p:spPr>
          <a:xfrm>
            <a:off x="1634281" y="4199022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Xn,3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96A59BFC-0378-F22B-FBF5-4EFB040CCC59}"/>
              </a:ext>
            </a:extLst>
          </p:cNvPr>
          <p:cNvSpPr txBox="1"/>
          <p:nvPr/>
        </p:nvSpPr>
        <p:spPr>
          <a:xfrm>
            <a:off x="2037404" y="4199022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Xn,4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099E2F5A-13A3-EF50-78E6-A9B592CED554}"/>
              </a:ext>
            </a:extLst>
          </p:cNvPr>
          <p:cNvSpPr txBox="1"/>
          <p:nvPr/>
        </p:nvSpPr>
        <p:spPr>
          <a:xfrm>
            <a:off x="3144515" y="4199022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 err="1"/>
              <a:t>Xn,n</a:t>
            </a:r>
            <a:endParaRPr lang="fr-FR" sz="1400" dirty="0"/>
          </a:p>
        </p:txBody>
      </p: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75127BCC-295F-DB79-0B5C-037D5D005697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2440527" y="4306744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F48695E-A509-95A9-A25A-1F1BB9047E9A}"/>
              </a:ext>
            </a:extLst>
          </p:cNvPr>
          <p:cNvCxnSpPr>
            <a:stCxn id="33" idx="2"/>
            <a:endCxn id="39" idx="0"/>
          </p:cNvCxnSpPr>
          <p:nvPr/>
        </p:nvCxnSpPr>
        <p:spPr>
          <a:xfrm>
            <a:off x="2238966" y="2598764"/>
            <a:ext cx="0" cy="160025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C35C1EA7-C17E-583D-6E98-9D1A3DC63F1E}"/>
              </a:ext>
            </a:extLst>
          </p:cNvPr>
          <p:cNvSpPr/>
          <p:nvPr/>
        </p:nvSpPr>
        <p:spPr>
          <a:xfrm>
            <a:off x="777235" y="1739688"/>
            <a:ext cx="1226083" cy="643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681C53-7C85-842D-5314-5B2952F95CD6}"/>
              </a:ext>
            </a:extLst>
          </p:cNvPr>
          <p:cNvSpPr/>
          <p:nvPr/>
        </p:nvSpPr>
        <p:spPr>
          <a:xfrm>
            <a:off x="1214444" y="1715570"/>
            <a:ext cx="1226083" cy="64318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E1F76B7-9F8E-352B-EEDA-92955502F186}"/>
              </a:ext>
            </a:extLst>
          </p:cNvPr>
          <p:cNvSpPr/>
          <p:nvPr/>
        </p:nvSpPr>
        <p:spPr>
          <a:xfrm>
            <a:off x="2707305" y="1747419"/>
            <a:ext cx="824111" cy="643182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BF2B11F-04CB-CCDA-AB55-BA9B32193E28}"/>
              </a:ext>
            </a:extLst>
          </p:cNvPr>
          <p:cNvSpPr/>
          <p:nvPr/>
        </p:nvSpPr>
        <p:spPr>
          <a:xfrm>
            <a:off x="797555" y="1955132"/>
            <a:ext cx="1226083" cy="64318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DDA5E03-B979-C57A-8CD0-68CE73DFB5CD}"/>
              </a:ext>
            </a:extLst>
          </p:cNvPr>
          <p:cNvSpPr/>
          <p:nvPr/>
        </p:nvSpPr>
        <p:spPr>
          <a:xfrm>
            <a:off x="2741392" y="3771284"/>
            <a:ext cx="798383" cy="64318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F4D6624-DDC4-02D1-9125-2BFD7335D60C}"/>
              </a:ext>
            </a:extLst>
          </p:cNvPr>
          <p:cNvSpPr txBox="1"/>
          <p:nvPr/>
        </p:nvSpPr>
        <p:spPr>
          <a:xfrm>
            <a:off x="208280" y="1840726"/>
            <a:ext cx="40737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Z1,1</a:t>
            </a:r>
          </a:p>
        </p:txBody>
      </p: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B85221C1-8044-413E-A544-3B89519A33B8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615659" y="1948448"/>
            <a:ext cx="1615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B260D967-5C37-0630-2F7F-DF6CFAF5F9E7}"/>
              </a:ext>
            </a:extLst>
          </p:cNvPr>
          <p:cNvSpPr txBox="1"/>
          <p:nvPr/>
        </p:nvSpPr>
        <p:spPr>
          <a:xfrm>
            <a:off x="2023638" y="1362961"/>
            <a:ext cx="39951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Z1,2</a:t>
            </a:r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B0A1672A-1354-4C24-06E1-024F33E80A9B}"/>
              </a:ext>
            </a:extLst>
          </p:cNvPr>
          <p:cNvCxnSpPr>
            <a:cxnSpLocks/>
            <a:stCxn id="61" idx="2"/>
          </p:cNvCxnSpPr>
          <p:nvPr/>
        </p:nvCxnSpPr>
        <p:spPr>
          <a:xfrm flipH="1">
            <a:off x="2187836" y="1578405"/>
            <a:ext cx="35561" cy="137165"/>
          </a:xfrm>
          <a:prstGeom prst="line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ZoneTexte 64">
            <a:extLst>
              <a:ext uri="{FF2B5EF4-FFF2-40B4-BE49-F238E27FC236}">
                <a16:creationId xmlns:a16="http://schemas.microsoft.com/office/drawing/2014/main" id="{321ED8FE-170A-388B-6BB8-BF67872AAF14}"/>
              </a:ext>
            </a:extLst>
          </p:cNvPr>
          <p:cNvSpPr txBox="1"/>
          <p:nvPr/>
        </p:nvSpPr>
        <p:spPr>
          <a:xfrm>
            <a:off x="3109118" y="1353713"/>
            <a:ext cx="55945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Z1,n-2</a:t>
            </a:r>
          </a:p>
        </p:txBody>
      </p: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579F9CD4-CD14-09B0-3F7E-BB3E40B07387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3310681" y="1569157"/>
            <a:ext cx="78165" cy="17826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99BC28E5-D2E4-6D61-0DF0-F8E5B32CD84D}"/>
              </a:ext>
            </a:extLst>
          </p:cNvPr>
          <p:cNvSpPr txBox="1"/>
          <p:nvPr/>
        </p:nvSpPr>
        <p:spPr>
          <a:xfrm>
            <a:off x="254005" y="2358752"/>
            <a:ext cx="40737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solidFill>
                  <a:srgbClr val="FFC000"/>
                </a:solidFill>
              </a:rPr>
              <a:t>Z2,1</a:t>
            </a:r>
          </a:p>
        </p:txBody>
      </p: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C52B74DA-FC6A-7B55-B8EF-A24B3F5C7BB9}"/>
              </a:ext>
            </a:extLst>
          </p:cNvPr>
          <p:cNvCxnSpPr>
            <a:stCxn id="70" idx="3"/>
          </p:cNvCxnSpPr>
          <p:nvPr/>
        </p:nvCxnSpPr>
        <p:spPr>
          <a:xfrm>
            <a:off x="661384" y="2466474"/>
            <a:ext cx="11585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ZoneTexte 73">
            <a:extLst>
              <a:ext uri="{FF2B5EF4-FFF2-40B4-BE49-F238E27FC236}">
                <a16:creationId xmlns:a16="http://schemas.microsoft.com/office/drawing/2014/main" id="{E53B9D09-1E5D-F132-39F2-630557BCD5BE}"/>
              </a:ext>
            </a:extLst>
          </p:cNvPr>
          <p:cNvSpPr txBox="1"/>
          <p:nvPr/>
        </p:nvSpPr>
        <p:spPr>
          <a:xfrm>
            <a:off x="3683976" y="3985153"/>
            <a:ext cx="971101" cy="2138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solidFill>
                  <a:srgbClr val="7030A0"/>
                </a:solidFill>
              </a:rPr>
              <a:t>Zn-2,n-2</a:t>
            </a:r>
          </a:p>
        </p:txBody>
      </p: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276BF40C-340C-000B-444D-63E398EF9D29}"/>
              </a:ext>
            </a:extLst>
          </p:cNvPr>
          <p:cNvCxnSpPr>
            <a:stCxn id="74" idx="1"/>
            <a:endCxn id="52" idx="3"/>
          </p:cNvCxnSpPr>
          <p:nvPr/>
        </p:nvCxnSpPr>
        <p:spPr>
          <a:xfrm flipH="1">
            <a:off x="3539775" y="4092088"/>
            <a:ext cx="144201" cy="787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Espace réservé du contenu 2">
            <a:extLst>
              <a:ext uri="{FF2B5EF4-FFF2-40B4-BE49-F238E27FC236}">
                <a16:creationId xmlns:a16="http://schemas.microsoft.com/office/drawing/2014/main" id="{F09C91B6-F852-59F5-CF9C-52A687B27760}"/>
              </a:ext>
            </a:extLst>
          </p:cNvPr>
          <p:cNvSpPr txBox="1">
            <a:spLocks/>
          </p:cNvSpPr>
          <p:nvPr/>
        </p:nvSpPr>
        <p:spPr>
          <a:xfrm>
            <a:off x="7502824" y="1611355"/>
            <a:ext cx="4650666" cy="5118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1400" dirty="0"/>
              <a:t>Pour chaque matrice (indice c), à chaque position de la fenêtre, le calcul suivant est effectué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400" dirty="0"/>
              <a:t>pour i et j variant de 1 à n-2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400" dirty="0" err="1"/>
              <a:t>Zci,j</a:t>
            </a:r>
            <a:r>
              <a:rPr lang="fr-FR" sz="1400" dirty="0"/>
              <a:t> = wc1*</a:t>
            </a:r>
            <a:r>
              <a:rPr lang="fr-FR" sz="1400" dirty="0" err="1"/>
              <a:t>Xci,j</a:t>
            </a:r>
            <a:r>
              <a:rPr lang="fr-FR" sz="1400" dirty="0"/>
              <a:t> + wc2*</a:t>
            </a:r>
            <a:r>
              <a:rPr lang="fr-FR" sz="1400" dirty="0" err="1"/>
              <a:t>Xci</a:t>
            </a:r>
            <a:r>
              <a:rPr lang="fr-FR" sz="1400" dirty="0"/>
              <a:t>,(j+1) + wc3*</a:t>
            </a:r>
            <a:r>
              <a:rPr lang="fr-FR" sz="1400" dirty="0" err="1"/>
              <a:t>Xci</a:t>
            </a:r>
            <a:r>
              <a:rPr lang="fr-FR" sz="1400" dirty="0"/>
              <a:t>,(j+2)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sz="1400" dirty="0"/>
              <a:t>         + wc4*</a:t>
            </a:r>
            <a:r>
              <a:rPr lang="fr-FR" sz="1400" dirty="0" err="1"/>
              <a:t>Xc</a:t>
            </a:r>
            <a:r>
              <a:rPr lang="fr-FR" sz="1400" dirty="0"/>
              <a:t>(i+1),j + wc5*</a:t>
            </a:r>
            <a:r>
              <a:rPr lang="fr-FR" sz="1400" dirty="0" err="1"/>
              <a:t>Xc</a:t>
            </a:r>
            <a:r>
              <a:rPr lang="fr-FR" sz="1400" dirty="0"/>
              <a:t>(i+1),(j+1) + wc6*</a:t>
            </a:r>
            <a:r>
              <a:rPr lang="fr-FR" sz="1400" dirty="0" err="1"/>
              <a:t>Xc</a:t>
            </a:r>
            <a:r>
              <a:rPr lang="fr-FR" sz="1400" dirty="0"/>
              <a:t>(i+1),(j+2)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fr-FR" sz="1400" dirty="0"/>
              <a:t>        + wc7*</a:t>
            </a:r>
            <a:r>
              <a:rPr lang="fr-FR" sz="1400" dirty="0" err="1"/>
              <a:t>Xc</a:t>
            </a:r>
            <a:r>
              <a:rPr lang="fr-FR" sz="1400" dirty="0"/>
              <a:t>(i+2),j + wc8*</a:t>
            </a:r>
            <a:r>
              <a:rPr lang="fr-FR" sz="1400" dirty="0" err="1"/>
              <a:t>Xc</a:t>
            </a:r>
            <a:r>
              <a:rPr lang="fr-FR" sz="1400" dirty="0"/>
              <a:t>(i+2),(j+1) + wc9*</a:t>
            </a:r>
            <a:r>
              <a:rPr lang="fr-FR" sz="1400" dirty="0" err="1"/>
              <a:t>Xc</a:t>
            </a:r>
            <a:r>
              <a:rPr lang="fr-FR" sz="1400" dirty="0"/>
              <a:t>(i+2),(j+2)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400" dirty="0"/>
              <a:t>où wc1 à wc9 sont les paramètres associés à la matrice c.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400" dirty="0"/>
              <a:t>Lorsque le calcul est effectué pour chaque matrice en entrée, on applique la formule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400" dirty="0" err="1"/>
              <a:t>Zi,j</a:t>
            </a:r>
            <a:r>
              <a:rPr lang="fr-FR" sz="1400" dirty="0"/>
              <a:t> = Somme(</a:t>
            </a:r>
            <a:r>
              <a:rPr lang="fr-FR" sz="1400" dirty="0" err="1"/>
              <a:t>Zci,j</a:t>
            </a:r>
            <a:r>
              <a:rPr lang="fr-FR" sz="1400" dirty="0"/>
              <a:t> de chaque matrice) + b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400" dirty="0"/>
              <a:t>puis  </a:t>
            </a:r>
            <a:r>
              <a:rPr lang="fr-FR" sz="1400" dirty="0" err="1"/>
              <a:t>Yi,j</a:t>
            </a:r>
            <a:r>
              <a:rPr lang="fr-FR" sz="1400" dirty="0"/>
              <a:t> = </a:t>
            </a:r>
            <a:r>
              <a:rPr lang="fr-FR" sz="1400" dirty="0" err="1"/>
              <a:t>ReLU</a:t>
            </a:r>
            <a:r>
              <a:rPr lang="fr-FR" sz="1400" dirty="0"/>
              <a:t>(</a:t>
            </a:r>
            <a:r>
              <a:rPr lang="fr-FR" sz="1400" dirty="0" err="1"/>
              <a:t>Zi,j</a:t>
            </a:r>
            <a:r>
              <a:rPr lang="fr-FR" sz="1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400" dirty="0"/>
              <a:t>On a donc (9 x nbre de matrices en entrée) + 1 paramètres pour chaque filtre, à multiplier par le nombre de filtres de la couche conv2d pour avoir le nombre total de paramètres de la couche.</a:t>
            </a:r>
          </a:p>
        </p:txBody>
      </p:sp>
      <p:sp>
        <p:nvSpPr>
          <p:cNvPr id="82" name="Flèche : droite 81">
            <a:extLst>
              <a:ext uri="{FF2B5EF4-FFF2-40B4-BE49-F238E27FC236}">
                <a16:creationId xmlns:a16="http://schemas.microsoft.com/office/drawing/2014/main" id="{B4E45DC2-F09C-6DFB-A811-7BB4B2D70F7D}"/>
              </a:ext>
            </a:extLst>
          </p:cNvPr>
          <p:cNvSpPr/>
          <p:nvPr/>
        </p:nvSpPr>
        <p:spPr>
          <a:xfrm>
            <a:off x="3762966" y="2805300"/>
            <a:ext cx="842621" cy="518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A0A2CC4-2262-5E17-1A67-07161FC9D7A3}"/>
              </a:ext>
            </a:extLst>
          </p:cNvPr>
          <p:cNvSpPr/>
          <p:nvPr/>
        </p:nvSpPr>
        <p:spPr>
          <a:xfrm>
            <a:off x="4697027" y="1647558"/>
            <a:ext cx="2672080" cy="26591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8E45C8DA-9D83-4323-95D9-CF98BCC2A6A0}"/>
              </a:ext>
            </a:extLst>
          </p:cNvPr>
          <p:cNvSpPr txBox="1"/>
          <p:nvPr/>
        </p:nvSpPr>
        <p:spPr>
          <a:xfrm>
            <a:off x="4747168" y="1729476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Y1,1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AD94437E-03B6-9749-C2A0-F0AE316A709B}"/>
              </a:ext>
            </a:extLst>
          </p:cNvPr>
          <p:cNvSpPr txBox="1"/>
          <p:nvPr/>
        </p:nvSpPr>
        <p:spPr>
          <a:xfrm>
            <a:off x="5150291" y="1729476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Y1,2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F3AB5A83-75F1-35EF-E9E7-9528279C6D6C}"/>
              </a:ext>
            </a:extLst>
          </p:cNvPr>
          <p:cNvSpPr txBox="1"/>
          <p:nvPr/>
        </p:nvSpPr>
        <p:spPr>
          <a:xfrm>
            <a:off x="5553414" y="1729026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Y1,3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3D591EF8-60CC-3CCA-ED79-7E15BE2847D1}"/>
              </a:ext>
            </a:extLst>
          </p:cNvPr>
          <p:cNvSpPr txBox="1"/>
          <p:nvPr/>
        </p:nvSpPr>
        <p:spPr>
          <a:xfrm>
            <a:off x="6762783" y="1727098"/>
            <a:ext cx="5538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Y1,n-2</a:t>
            </a:r>
          </a:p>
        </p:txBody>
      </p: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B4868667-614A-5594-3EA1-B2F95806F728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 flipV="1">
            <a:off x="5956537" y="1834820"/>
            <a:ext cx="806246" cy="19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ZoneTexte 92">
            <a:extLst>
              <a:ext uri="{FF2B5EF4-FFF2-40B4-BE49-F238E27FC236}">
                <a16:creationId xmlns:a16="http://schemas.microsoft.com/office/drawing/2014/main" id="{1CA6F557-47F7-5218-57FF-6860D9B9D3D6}"/>
              </a:ext>
            </a:extLst>
          </p:cNvPr>
          <p:cNvSpPr txBox="1"/>
          <p:nvPr/>
        </p:nvSpPr>
        <p:spPr>
          <a:xfrm>
            <a:off x="4747168" y="4034709"/>
            <a:ext cx="5538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Yn-2,1</a:t>
            </a:r>
          </a:p>
        </p:txBody>
      </p:sp>
      <p:sp>
        <p:nvSpPr>
          <p:cNvPr id="94" name="ZoneTexte 93">
            <a:extLst>
              <a:ext uri="{FF2B5EF4-FFF2-40B4-BE49-F238E27FC236}">
                <a16:creationId xmlns:a16="http://schemas.microsoft.com/office/drawing/2014/main" id="{6B288406-8D16-32FB-4F9D-DE952ADE0BB3}"/>
              </a:ext>
            </a:extLst>
          </p:cNvPr>
          <p:cNvSpPr txBox="1"/>
          <p:nvPr/>
        </p:nvSpPr>
        <p:spPr>
          <a:xfrm>
            <a:off x="5292531" y="4034709"/>
            <a:ext cx="5538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Yn-2,2</a:t>
            </a:r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9B8EC8E3-7483-F0F5-5D68-CE5AA2697EB8}"/>
              </a:ext>
            </a:extLst>
          </p:cNvPr>
          <p:cNvSpPr txBox="1"/>
          <p:nvPr/>
        </p:nvSpPr>
        <p:spPr>
          <a:xfrm>
            <a:off x="6586458" y="4032331"/>
            <a:ext cx="7302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Yn-2,n-2</a:t>
            </a:r>
          </a:p>
        </p:txBody>
      </p: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6E6E19B3-DE56-699A-0B11-97ABF16FB490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 flipV="1">
            <a:off x="5846417" y="4140053"/>
            <a:ext cx="740041" cy="237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918F5AE3-198C-47B7-0421-5D34B2500508}"/>
              </a:ext>
            </a:extLst>
          </p:cNvPr>
          <p:cNvCxnSpPr>
            <a:cxnSpLocks/>
            <a:stCxn id="107" idx="2"/>
          </p:cNvCxnSpPr>
          <p:nvPr/>
        </p:nvCxnSpPr>
        <p:spPr>
          <a:xfrm>
            <a:off x="5754976" y="2165819"/>
            <a:ext cx="0" cy="181933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866E4886-E5C4-4C84-D9DA-E61915B60663}"/>
              </a:ext>
            </a:extLst>
          </p:cNvPr>
          <p:cNvSpPr txBox="1"/>
          <p:nvPr/>
        </p:nvSpPr>
        <p:spPr>
          <a:xfrm>
            <a:off x="4747168" y="1950825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Y2,1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344DC3BB-2D68-CAB5-DF86-8CE12BEC6B50}"/>
              </a:ext>
            </a:extLst>
          </p:cNvPr>
          <p:cNvSpPr txBox="1"/>
          <p:nvPr/>
        </p:nvSpPr>
        <p:spPr>
          <a:xfrm>
            <a:off x="5150291" y="1950825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Y2,2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C4FF45BB-F6BF-6C98-D736-4BDB7D54AAE2}"/>
              </a:ext>
            </a:extLst>
          </p:cNvPr>
          <p:cNvSpPr txBox="1"/>
          <p:nvPr/>
        </p:nvSpPr>
        <p:spPr>
          <a:xfrm>
            <a:off x="5553414" y="1950375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Y2,3</a:t>
            </a:r>
          </a:p>
        </p:txBody>
      </p:sp>
      <p:sp>
        <p:nvSpPr>
          <p:cNvPr id="108" name="ZoneTexte 107">
            <a:extLst>
              <a:ext uri="{FF2B5EF4-FFF2-40B4-BE49-F238E27FC236}">
                <a16:creationId xmlns:a16="http://schemas.microsoft.com/office/drawing/2014/main" id="{BD459C81-8F85-2251-58EA-CD5635151741}"/>
              </a:ext>
            </a:extLst>
          </p:cNvPr>
          <p:cNvSpPr txBox="1"/>
          <p:nvPr/>
        </p:nvSpPr>
        <p:spPr>
          <a:xfrm>
            <a:off x="6762783" y="1948447"/>
            <a:ext cx="5538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Y2,n-2</a:t>
            </a:r>
          </a:p>
        </p:txBody>
      </p: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297FA59B-BA83-0840-09CD-13B1ABF20487}"/>
              </a:ext>
            </a:extLst>
          </p:cNvPr>
          <p:cNvCxnSpPr>
            <a:cxnSpLocks/>
            <a:stCxn id="107" idx="3"/>
            <a:endCxn id="108" idx="1"/>
          </p:cNvCxnSpPr>
          <p:nvPr/>
        </p:nvCxnSpPr>
        <p:spPr>
          <a:xfrm flipV="1">
            <a:off x="5956537" y="2056169"/>
            <a:ext cx="806246" cy="192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953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C5FAD4-EBEE-D533-228B-D739CF050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529"/>
            <a:ext cx="10515600" cy="1074966"/>
          </a:xfrm>
        </p:spPr>
        <p:txBody>
          <a:bodyPr/>
          <a:lstStyle/>
          <a:p>
            <a:pPr algn="ctr"/>
            <a:r>
              <a:rPr lang="fr-FR" dirty="0"/>
              <a:t>Fonction MaxPooling2D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0B7B43-2B72-9A44-8FE7-128CF9BE0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502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dirty="0"/>
              <a:t>Cette fonction est configurée ainsi : MaxPooling2D((2, 2))</a:t>
            </a:r>
          </a:p>
          <a:p>
            <a:pPr marL="0" indent="0">
              <a:buNone/>
            </a:pPr>
            <a:r>
              <a:rPr lang="fr-FR" sz="1800" dirty="0"/>
              <a:t>Chaque matrice en entrée est décomposée en blocs 2x2, et pour chaque bloc la valeur maximale est retenue :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98DC6167-8F90-9739-C290-69C0D8F4A09D}"/>
              </a:ext>
            </a:extLst>
          </p:cNvPr>
          <p:cNvSpPr txBox="1">
            <a:spLocks/>
          </p:cNvSpPr>
          <p:nvPr/>
        </p:nvSpPr>
        <p:spPr>
          <a:xfrm>
            <a:off x="838200" y="4932762"/>
            <a:ext cx="10515600" cy="13255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600" dirty="0"/>
              <a:t>On divise ainsi la dimension de la matrice par 2.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600" dirty="0"/>
              <a:t>Si la dimension de la matrice en entrée est impaire, la dernière ligne et la dernière colonne sont ignorées.</a:t>
            </a:r>
          </a:p>
          <a:p>
            <a:pPr marL="0" indent="0">
              <a:buNone/>
            </a:pPr>
            <a:r>
              <a:rPr lang="fr-FR" sz="2600" dirty="0"/>
              <a:t>On veut essentiellement savoir si un motif intéressant est présent dans cette zone, sans nécessairement conserver sa position au pixel près.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2400" dirty="0"/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0625042-79A3-B6AD-DA50-2687705D051A}"/>
              </a:ext>
            </a:extLst>
          </p:cNvPr>
          <p:cNvSpPr txBox="1"/>
          <p:nvPr/>
        </p:nvSpPr>
        <p:spPr>
          <a:xfrm>
            <a:off x="1221325" y="2810883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X1,1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7B80BBC-064B-4EBB-E11B-01D58691E60F}"/>
              </a:ext>
            </a:extLst>
          </p:cNvPr>
          <p:cNvSpPr txBox="1"/>
          <p:nvPr/>
        </p:nvSpPr>
        <p:spPr>
          <a:xfrm>
            <a:off x="1624448" y="2810883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X1,2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9FD9830-0E97-13DE-4411-BAC019BF1090}"/>
              </a:ext>
            </a:extLst>
          </p:cNvPr>
          <p:cNvSpPr txBox="1"/>
          <p:nvPr/>
        </p:nvSpPr>
        <p:spPr>
          <a:xfrm>
            <a:off x="2027571" y="2810433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X1,3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39258CD-B92C-5A3C-CFCB-DDC4D4C1CA8F}"/>
              </a:ext>
            </a:extLst>
          </p:cNvPr>
          <p:cNvSpPr txBox="1"/>
          <p:nvPr/>
        </p:nvSpPr>
        <p:spPr>
          <a:xfrm>
            <a:off x="2430694" y="2810433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X1,4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4128C9B-FF9D-46F9-D5DE-266541D70E5B}"/>
              </a:ext>
            </a:extLst>
          </p:cNvPr>
          <p:cNvSpPr txBox="1"/>
          <p:nvPr/>
        </p:nvSpPr>
        <p:spPr>
          <a:xfrm>
            <a:off x="3537805" y="2810433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X1,n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FBAB8A7-158A-21EE-0F75-A65681B8A0E3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2833817" y="2918155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C473747E-3741-382F-4A5A-DFE2D36F4E43}"/>
              </a:ext>
            </a:extLst>
          </p:cNvPr>
          <p:cNvSpPr txBox="1"/>
          <p:nvPr/>
        </p:nvSpPr>
        <p:spPr>
          <a:xfrm>
            <a:off x="1221325" y="3026327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X2,1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7BA2403-673C-587A-C477-BF0A2E0F8700}"/>
              </a:ext>
            </a:extLst>
          </p:cNvPr>
          <p:cNvSpPr txBox="1"/>
          <p:nvPr/>
        </p:nvSpPr>
        <p:spPr>
          <a:xfrm>
            <a:off x="1624448" y="3025877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X2,2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F87A3DDC-80DB-30EE-1775-E52DDBAFCE35}"/>
              </a:ext>
            </a:extLst>
          </p:cNvPr>
          <p:cNvSpPr txBox="1"/>
          <p:nvPr/>
        </p:nvSpPr>
        <p:spPr>
          <a:xfrm>
            <a:off x="2027571" y="3025877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X2,3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973ADB2-E120-BCB3-ACB1-06BC2B527A30}"/>
              </a:ext>
            </a:extLst>
          </p:cNvPr>
          <p:cNvSpPr txBox="1"/>
          <p:nvPr/>
        </p:nvSpPr>
        <p:spPr>
          <a:xfrm>
            <a:off x="2430694" y="3025877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X2,4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DF88DE6-9996-0634-92DF-2F6D5127AAAA}"/>
              </a:ext>
            </a:extLst>
          </p:cNvPr>
          <p:cNvSpPr txBox="1"/>
          <p:nvPr/>
        </p:nvSpPr>
        <p:spPr>
          <a:xfrm>
            <a:off x="3537805" y="3025877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X2,n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DF0A6218-324D-271B-60E5-12B5A5A2A8B4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2833817" y="3133599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8AF47FFA-60D8-ECDE-E645-5D4E83E06E67}"/>
              </a:ext>
            </a:extLst>
          </p:cNvPr>
          <p:cNvSpPr txBox="1"/>
          <p:nvPr/>
        </p:nvSpPr>
        <p:spPr>
          <a:xfrm>
            <a:off x="1221325" y="3240871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X3,1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68EDF4A-218E-F2A9-B670-8376EEC3B452}"/>
              </a:ext>
            </a:extLst>
          </p:cNvPr>
          <p:cNvSpPr txBox="1"/>
          <p:nvPr/>
        </p:nvSpPr>
        <p:spPr>
          <a:xfrm>
            <a:off x="1624448" y="3240871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X3,2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131D7A8-0F50-1A9B-68B4-8ACE20A5931A}"/>
              </a:ext>
            </a:extLst>
          </p:cNvPr>
          <p:cNvSpPr txBox="1"/>
          <p:nvPr/>
        </p:nvSpPr>
        <p:spPr>
          <a:xfrm>
            <a:off x="2027571" y="3240421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X3,3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0D50343-3838-E327-5E41-0040A2CBD0FC}"/>
              </a:ext>
            </a:extLst>
          </p:cNvPr>
          <p:cNvSpPr txBox="1"/>
          <p:nvPr/>
        </p:nvSpPr>
        <p:spPr>
          <a:xfrm>
            <a:off x="2430694" y="3240421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X3,4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F7BB0DA-2FD1-CB3B-6ECE-64DFC221DC4A}"/>
              </a:ext>
            </a:extLst>
          </p:cNvPr>
          <p:cNvSpPr txBox="1"/>
          <p:nvPr/>
        </p:nvSpPr>
        <p:spPr>
          <a:xfrm>
            <a:off x="3537805" y="3240421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X3,n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00A1461A-AF7B-A667-40EB-0B8B6AB04AB5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>
            <a:off x="2833817" y="3348143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22F68BFD-EFB9-2DF7-43EA-CCC0D629A770}"/>
              </a:ext>
            </a:extLst>
          </p:cNvPr>
          <p:cNvSpPr txBox="1"/>
          <p:nvPr/>
        </p:nvSpPr>
        <p:spPr>
          <a:xfrm>
            <a:off x="1221325" y="3454515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X4,1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1EEF18A-8CAF-B763-D7E0-6C4401F5B93B}"/>
              </a:ext>
            </a:extLst>
          </p:cNvPr>
          <p:cNvSpPr txBox="1"/>
          <p:nvPr/>
        </p:nvSpPr>
        <p:spPr>
          <a:xfrm>
            <a:off x="1624448" y="3454515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X4,2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8CA47BD-69F0-3609-01CC-3BE10657F317}"/>
              </a:ext>
            </a:extLst>
          </p:cNvPr>
          <p:cNvSpPr txBox="1"/>
          <p:nvPr/>
        </p:nvSpPr>
        <p:spPr>
          <a:xfrm>
            <a:off x="2027571" y="3454065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X4,3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1D8C6BD-B63A-F9B3-C0A8-7644F93217D7}"/>
              </a:ext>
            </a:extLst>
          </p:cNvPr>
          <p:cNvSpPr txBox="1"/>
          <p:nvPr/>
        </p:nvSpPr>
        <p:spPr>
          <a:xfrm>
            <a:off x="2430694" y="3454065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X4,4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ECA3EB7-A011-7BED-6423-372643482AE8}"/>
              </a:ext>
            </a:extLst>
          </p:cNvPr>
          <p:cNvSpPr txBox="1"/>
          <p:nvPr/>
        </p:nvSpPr>
        <p:spPr>
          <a:xfrm>
            <a:off x="3537805" y="3454065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X4,n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B915C362-5F23-AC9C-83CB-2C74964E7B18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2833817" y="3561787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18BBAA8-6458-BE19-0B53-870FB15C604D}"/>
              </a:ext>
            </a:extLst>
          </p:cNvPr>
          <p:cNvSpPr/>
          <p:nvPr/>
        </p:nvSpPr>
        <p:spPr>
          <a:xfrm>
            <a:off x="1170525" y="2800601"/>
            <a:ext cx="820505" cy="4286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50B04BF-1FA0-6FD1-F9FF-83542C073C11}"/>
              </a:ext>
            </a:extLst>
          </p:cNvPr>
          <p:cNvSpPr/>
          <p:nvPr/>
        </p:nvSpPr>
        <p:spPr>
          <a:xfrm>
            <a:off x="2009706" y="2786315"/>
            <a:ext cx="824111" cy="45500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BE4A1D-D50A-3237-EDA0-17D798672314}"/>
              </a:ext>
            </a:extLst>
          </p:cNvPr>
          <p:cNvSpPr/>
          <p:nvPr/>
        </p:nvSpPr>
        <p:spPr>
          <a:xfrm>
            <a:off x="1171182" y="3240421"/>
            <a:ext cx="820504" cy="42863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04BDFE-57ED-A2B7-1335-00A20B655D3D}"/>
              </a:ext>
            </a:extLst>
          </p:cNvPr>
          <p:cNvSpPr/>
          <p:nvPr/>
        </p:nvSpPr>
        <p:spPr>
          <a:xfrm>
            <a:off x="2027571" y="3229238"/>
            <a:ext cx="820504" cy="42863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83604DB4-70C6-B9E7-800E-386A4D4136F4}"/>
              </a:ext>
            </a:extLst>
          </p:cNvPr>
          <p:cNvSpPr txBox="1"/>
          <p:nvPr/>
        </p:nvSpPr>
        <p:spPr>
          <a:xfrm>
            <a:off x="1181997" y="4307627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Xn,1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CF8E5C34-18EA-CDC9-693A-A74A59A227DB}"/>
              </a:ext>
            </a:extLst>
          </p:cNvPr>
          <p:cNvSpPr txBox="1"/>
          <p:nvPr/>
        </p:nvSpPr>
        <p:spPr>
          <a:xfrm>
            <a:off x="1585120" y="4307627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Xn,2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427AED67-03EE-C31A-CE17-8ED74F4547BE}"/>
              </a:ext>
            </a:extLst>
          </p:cNvPr>
          <p:cNvSpPr txBox="1"/>
          <p:nvPr/>
        </p:nvSpPr>
        <p:spPr>
          <a:xfrm>
            <a:off x="1988243" y="4307177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Xn,3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F6939631-CD8A-E7A7-9FE2-8CA4C98F841A}"/>
              </a:ext>
            </a:extLst>
          </p:cNvPr>
          <p:cNvSpPr txBox="1"/>
          <p:nvPr/>
        </p:nvSpPr>
        <p:spPr>
          <a:xfrm>
            <a:off x="2391366" y="4307177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/>
              <a:t>Xn,4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C8618CAA-F53B-6DE3-AA3D-4E23680614A5}"/>
              </a:ext>
            </a:extLst>
          </p:cNvPr>
          <p:cNvSpPr txBox="1"/>
          <p:nvPr/>
        </p:nvSpPr>
        <p:spPr>
          <a:xfrm>
            <a:off x="3498477" y="4307177"/>
            <a:ext cx="40312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 err="1"/>
              <a:t>Xn,n</a:t>
            </a:r>
            <a:endParaRPr lang="fr-FR" sz="1400" dirty="0"/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1FCC9A5E-3067-D43E-908D-37AB5EB98750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2794489" y="4414899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FCFD98E6-F03A-DFCF-D944-8B91A23FF023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2437823" y="3657876"/>
            <a:ext cx="10736" cy="63766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CD5E2A4-BFB0-9EBB-19C3-D2241F53A9AC}"/>
              </a:ext>
            </a:extLst>
          </p:cNvPr>
          <p:cNvSpPr/>
          <p:nvPr/>
        </p:nvSpPr>
        <p:spPr>
          <a:xfrm>
            <a:off x="1090557" y="2665601"/>
            <a:ext cx="2850371" cy="19695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8776C68-9BBF-52B2-BDB8-1A86FFD953A2}"/>
              </a:ext>
            </a:extLst>
          </p:cNvPr>
          <p:cNvSpPr txBox="1"/>
          <p:nvPr/>
        </p:nvSpPr>
        <p:spPr>
          <a:xfrm>
            <a:off x="5098179" y="2775279"/>
            <a:ext cx="120430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solidFill>
                  <a:srgbClr val="FF0000"/>
                </a:solidFill>
              </a:rPr>
              <a:t>Max(X1,1,X1,2,X2,1,X2,2)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C5DE367-7A29-B453-4EC3-7A39C1B9F16E}"/>
              </a:ext>
            </a:extLst>
          </p:cNvPr>
          <p:cNvSpPr txBox="1"/>
          <p:nvPr/>
        </p:nvSpPr>
        <p:spPr>
          <a:xfrm>
            <a:off x="5098179" y="3240421"/>
            <a:ext cx="120430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solidFill>
                  <a:srgbClr val="FFC000"/>
                </a:solidFill>
              </a:rPr>
              <a:t>Max(X3,1,X3,2,X4,1,X4,2)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2A7D65D8-6749-AE1A-225A-B4F38CAF6AC1}"/>
              </a:ext>
            </a:extLst>
          </p:cNvPr>
          <p:cNvSpPr txBox="1"/>
          <p:nvPr/>
        </p:nvSpPr>
        <p:spPr>
          <a:xfrm>
            <a:off x="6469626" y="2771826"/>
            <a:ext cx="120430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solidFill>
                  <a:srgbClr val="00B050"/>
                </a:solidFill>
              </a:rPr>
              <a:t>Max(X1,3,X1,4,X2,3,X2,4)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4F5442AD-7917-C991-B92A-C3B740B3AB86}"/>
              </a:ext>
            </a:extLst>
          </p:cNvPr>
          <p:cNvSpPr txBox="1"/>
          <p:nvPr/>
        </p:nvSpPr>
        <p:spPr>
          <a:xfrm>
            <a:off x="6483954" y="3240421"/>
            <a:ext cx="120430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400" dirty="0">
                <a:solidFill>
                  <a:srgbClr val="00B0F0"/>
                </a:solidFill>
              </a:rPr>
              <a:t>Max(X3,3,X3,4,X4,3,X4,4)</a:t>
            </a:r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C22B6B47-7B26-4344-8D59-4F856E5C2BE3}"/>
              </a:ext>
            </a:extLst>
          </p:cNvPr>
          <p:cNvCxnSpPr>
            <a:cxnSpLocks/>
          </p:cNvCxnSpPr>
          <p:nvPr/>
        </p:nvCxnSpPr>
        <p:spPr>
          <a:xfrm>
            <a:off x="6188830" y="3670927"/>
            <a:ext cx="10736" cy="637668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D497A29D-25B2-D3EE-0C1C-63B14030B8FA}"/>
              </a:ext>
            </a:extLst>
          </p:cNvPr>
          <p:cNvCxnSpPr/>
          <p:nvPr/>
        </p:nvCxnSpPr>
        <p:spPr>
          <a:xfrm>
            <a:off x="7688254" y="3133599"/>
            <a:ext cx="703988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E8BFA8EE-9D99-E158-3D78-EBDCC507672F}"/>
              </a:ext>
            </a:extLst>
          </p:cNvPr>
          <p:cNvSpPr/>
          <p:nvPr/>
        </p:nvSpPr>
        <p:spPr>
          <a:xfrm>
            <a:off x="5018542" y="2641208"/>
            <a:ext cx="3466697" cy="18136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Flèche : droite 62">
            <a:extLst>
              <a:ext uri="{FF2B5EF4-FFF2-40B4-BE49-F238E27FC236}">
                <a16:creationId xmlns:a16="http://schemas.microsoft.com/office/drawing/2014/main" id="{1D5DF059-30FD-F0C2-D1CD-0FFC8F3CDF90}"/>
              </a:ext>
            </a:extLst>
          </p:cNvPr>
          <p:cNvSpPr/>
          <p:nvPr/>
        </p:nvSpPr>
        <p:spPr>
          <a:xfrm>
            <a:off x="4071696" y="3281725"/>
            <a:ext cx="842621" cy="518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907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208633-2310-DB12-0AF4-7C4436542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Fonction </a:t>
            </a:r>
            <a:r>
              <a:rPr lang="fr-FR" dirty="0" err="1"/>
              <a:t>flatten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4CE661-C64D-8D2C-BFE7-EF9A36EB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Cette fonction (sans paramètre) se contente d’écrire le contenu de toutes les matrices en entrée dans un seul vecteur.</a:t>
            </a:r>
          </a:p>
          <a:p>
            <a:pPr marL="0" indent="0">
              <a:buNone/>
            </a:pPr>
            <a:r>
              <a:rPr lang="fr-FR" dirty="0"/>
              <a:t>Dans notre cas, nous avons 64 matrices 3x3,</a:t>
            </a:r>
          </a:p>
          <a:p>
            <a:pPr marL="0" indent="0">
              <a:buNone/>
            </a:pPr>
            <a:r>
              <a:rPr lang="fr-FR" dirty="0"/>
              <a:t>autrement dit 64x9 = 576 valeurs dans le vecteur en sortie.</a:t>
            </a:r>
          </a:p>
        </p:txBody>
      </p:sp>
    </p:spTree>
    <p:extLst>
      <p:ext uri="{BB962C8B-B14F-4D97-AF65-F5344CB8AC3E}">
        <p14:creationId xmlns:p14="http://schemas.microsoft.com/office/powerpoint/2010/main" val="1103188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9909E0-7DF8-D0F8-CF23-98CBF1C4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Neurone de la couche Dense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63F7D81-EED5-E5B8-F392-CBCCA001D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fr-FR" sz="2400" dirty="0"/>
                  <a:t>Le calcul effectué par un neurone est une combinaison linéaire des n entrées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2400" dirty="0"/>
                  <a:t> :</a:t>
                </a:r>
              </a:p>
              <a:p>
                <a:pPr marL="0" indent="0">
                  <a:buNone/>
                </a:pPr>
                <a:r>
                  <a:rPr lang="fr-FR" sz="2400" dirty="0"/>
                  <a:t>	z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fr-F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fr-FR" sz="240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b>
                          <m:sSub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nary>
                  </m:oMath>
                </a14:m>
                <a:endParaRPr lang="fr-FR" sz="2400" dirty="0"/>
              </a:p>
              <a:p>
                <a:pPr marL="0" indent="0">
                  <a:buNone/>
                </a:pPr>
                <a:r>
                  <a:rPr lang="fr-FR" sz="2400" dirty="0"/>
                  <a:t>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2400" dirty="0"/>
                  <a:t> sont les poids et b le biais du neurone, soient n+1 paramètres.</a:t>
                </a:r>
              </a:p>
              <a:p>
                <a:pPr marL="0" indent="0">
                  <a:buNone/>
                </a:pPr>
                <a:r>
                  <a:rPr lang="fr-FR" sz="2400" dirty="0"/>
                  <a:t>Il applique ensuite la fonction d’activation pour calculer la sortie y :</a:t>
                </a:r>
              </a:p>
              <a:p>
                <a:pPr marL="0" indent="0">
                  <a:buNone/>
                </a:pPr>
                <a:r>
                  <a:rPr lang="fr-FR" sz="2400" dirty="0"/>
                  <a:t>	y = </a:t>
                </a:r>
                <a:r>
                  <a:rPr lang="fr-FR" sz="2400" dirty="0" err="1"/>
                  <a:t>f</a:t>
                </a:r>
                <a:r>
                  <a:rPr lang="fr-FR" sz="2400" baseline="-25000" dirty="0" err="1"/>
                  <a:t>act</a:t>
                </a:r>
                <a:r>
                  <a:rPr lang="fr-FR" sz="2400" dirty="0"/>
                  <a:t>(z)</a:t>
                </a:r>
              </a:p>
              <a:p>
                <a:pPr marL="0" indent="0">
                  <a:buNone/>
                </a:pPr>
                <a:r>
                  <a:rPr lang="fr-FR" sz="2400" dirty="0"/>
                  <a:t>Dans cette couche, il y a donc (n+1)*m paramètres, m étant le nombre de neurones.</a:t>
                </a:r>
              </a:p>
              <a:p>
                <a:pPr marL="0" indent="0">
                  <a:buNone/>
                </a:pPr>
                <a:r>
                  <a:rPr lang="fr-FR" sz="2400" dirty="0"/>
                  <a:t>A la dernière couche, la fonction d’activité </a:t>
                </a:r>
                <a:r>
                  <a:rPr lang="fr-FR" sz="2400" dirty="0" err="1"/>
                  <a:t>softmax</a:t>
                </a:r>
                <a:r>
                  <a:rPr lang="fr-FR" sz="2400" dirty="0"/>
                  <a:t> est utilisée :</a:t>
                </a:r>
              </a:p>
              <a:p>
                <a:pPr marL="0" indent="0">
                  <a:buNone/>
                </a:pPr>
                <a:r>
                  <a:rPr lang="fr-FR" sz="2400" dirty="0" err="1"/>
                  <a:t>Softmax</a:t>
                </a:r>
                <a:r>
                  <a:rPr lang="fr-FR" sz="2400" dirty="0"/>
                  <a:t> récupère les </a:t>
                </a:r>
                <a:r>
                  <a:rPr lang="fr-FR" sz="2400" dirty="0" err="1"/>
                  <a:t>z</a:t>
                </a:r>
                <a:r>
                  <a:rPr lang="fr-FR" sz="2400" baseline="-25000" dirty="0" err="1"/>
                  <a:t>i</a:t>
                </a:r>
                <a:r>
                  <a:rPr lang="fr-FR" sz="2400" dirty="0"/>
                  <a:t> de toutes les m neurones de la couche, et calcule la sortie associée à la neurone i comme suit :</a:t>
                </a:r>
              </a:p>
              <a:p>
                <a:pPr marL="0" indent="0">
                  <a:buNone/>
                </a:pPr>
                <a:r>
                  <a:rPr lang="fr-FR" sz="2400" dirty="0"/>
                  <a:t>	y</a:t>
                </a:r>
                <a:r>
                  <a:rPr lang="fr-FR" sz="2400" baseline="-25000" dirty="0"/>
                  <a:t>i</a:t>
                </a:r>
                <a:r>
                  <a:rPr lang="fr-FR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fr-FR" sz="2400" b="0" i="1" baseline="-2500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ctrl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fr-FR" sz="24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fr-FR" sz="2400" b="0" i="1" baseline="-2500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fr-FR" sz="2400" dirty="0"/>
              </a:p>
              <a:p>
                <a:pPr marL="0" indent="0">
                  <a:buNone/>
                </a:pPr>
                <a:r>
                  <a:rPr lang="fr-FR" sz="2400" dirty="0"/>
                  <a:t>La somme des sorties y</a:t>
                </a:r>
                <a:r>
                  <a:rPr lang="fr-FR" sz="2400" baseline="-25000" dirty="0"/>
                  <a:t>i</a:t>
                </a:r>
                <a:r>
                  <a:rPr lang="fr-FR" sz="2400" dirty="0"/>
                  <a:t> est égale à 1, ce qui correspond bien à des probabilités.</a:t>
                </a:r>
              </a:p>
              <a:p>
                <a:pPr marL="0" indent="0">
                  <a:buNone/>
                </a:pPr>
                <a:endParaRPr lang="fr-FR" sz="2400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63F7D81-EED5-E5B8-F392-CBCCA001D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63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102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F4878B-F650-72A1-0685-FAED4677F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Fonction dropout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B738409-A491-69F3-8051-19FA81A85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/>
              <a:t>Cette fonction est configurée comme suit :</a:t>
            </a:r>
          </a:p>
          <a:p>
            <a:pPr marL="0" indent="0">
              <a:buNone/>
            </a:pPr>
            <a:r>
              <a:rPr lang="fr-FR" sz="2000" dirty="0"/>
              <a:t>	Dropout(0.5)</a:t>
            </a:r>
          </a:p>
          <a:p>
            <a:pPr marL="0" indent="0">
              <a:buNone/>
            </a:pPr>
            <a:r>
              <a:rPr lang="fr-FR" sz="2000" dirty="0"/>
              <a:t>où le nombre en argument correspond au pourcentage (ici 50%) des entrées désactivées.</a:t>
            </a:r>
          </a:p>
          <a:p>
            <a:pPr marL="0" indent="0">
              <a:buNone/>
            </a:pPr>
            <a:r>
              <a:rPr lang="fr-FR" sz="2000" dirty="0"/>
              <a:t>Pendant l'entraînement, elle désactive aléatoirement 50 % des neurones de la couche précédente à chaque passage.</a:t>
            </a:r>
          </a:p>
          <a:p>
            <a:pPr marL="0" indent="0">
              <a:buNone/>
            </a:pPr>
            <a:r>
              <a:rPr lang="fr-FR" sz="2000" dirty="0"/>
              <a:t>Cela oblige le réseau à ne pas devenir trop dépendant de quelques neurones particuliers.</a:t>
            </a:r>
          </a:p>
          <a:p>
            <a:pPr marL="0" indent="0">
              <a:buNone/>
            </a:pPr>
            <a:r>
              <a:rPr lang="fr-FR" sz="2000" dirty="0"/>
              <a:t>C'est une technique permettant de lutter contre le surapprentissage (</a:t>
            </a:r>
            <a:r>
              <a:rPr lang="fr-FR" sz="2000" dirty="0" err="1"/>
              <a:t>overfitting</a:t>
            </a:r>
            <a:r>
              <a:rPr lang="fr-FR" sz="2000" dirty="0"/>
              <a:t>).</a:t>
            </a:r>
          </a:p>
          <a:p>
            <a:pPr marL="0" indent="0">
              <a:buNone/>
            </a:pPr>
            <a:r>
              <a:rPr lang="fr-FR" sz="2000" dirty="0"/>
              <a:t>Lors de l'utilisation finale du modèle (</a:t>
            </a:r>
            <a:r>
              <a:rPr lang="fr-FR" sz="2000" dirty="0" err="1"/>
              <a:t>predict</a:t>
            </a:r>
            <a:r>
              <a:rPr lang="fr-FR" sz="2000" dirty="0"/>
              <a:t>, </a:t>
            </a:r>
            <a:r>
              <a:rPr lang="fr-FR" sz="2000" dirty="0" err="1"/>
              <a:t>evaluate</a:t>
            </a:r>
            <a:r>
              <a:rPr lang="fr-FR" sz="2000" dirty="0"/>
              <a:t>), le Dropout est désactivé. Tous les neurones sont utilisés.</a:t>
            </a:r>
          </a:p>
        </p:txBody>
      </p:sp>
    </p:spTree>
    <p:extLst>
      <p:ext uri="{BB962C8B-B14F-4D97-AF65-F5344CB8AC3E}">
        <p14:creationId xmlns:p14="http://schemas.microsoft.com/office/powerpoint/2010/main" val="39215872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1108</Words>
  <Application>Microsoft Office PowerPoint</Application>
  <PresentationFormat>Grand écran</PresentationFormat>
  <Paragraphs>189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Thème Office</vt:lpstr>
      <vt:lpstr>Présentation du modèle CNN de reconnaissance de chiffres manuscrits</vt:lpstr>
      <vt:lpstr>Présentation du besoin</vt:lpstr>
      <vt:lpstr>Présentation du modèle CNN (Convolutional Neural Network)</vt:lpstr>
      <vt:lpstr>Principe de fonctionnement du modèle</vt:lpstr>
      <vt:lpstr>Couche Conv2D</vt:lpstr>
      <vt:lpstr>Calculs de Conv2D</vt:lpstr>
      <vt:lpstr>Fonction MaxPooling2D</vt:lpstr>
      <vt:lpstr>Fonction flatten</vt:lpstr>
      <vt:lpstr>Neurone de la couche Dense</vt:lpstr>
      <vt:lpstr>Fonction dropout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Frédéric Perret</dc:creator>
  <cp:lastModifiedBy>Frédéric Perret</cp:lastModifiedBy>
  <cp:revision>28</cp:revision>
  <dcterms:created xsi:type="dcterms:W3CDTF">2026-10-13T07:46:49Z</dcterms:created>
  <dcterms:modified xsi:type="dcterms:W3CDTF">2026-10-13T15:00:33Z</dcterms:modified>
</cp:coreProperties>
</file>